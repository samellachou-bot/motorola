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3" r:id="rId8"/>
    <p:sldId id="265"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A1CC86-7C54-A9A1-E893-2F01C3D1F9C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3" name="Sous-titre 2">
            <a:extLst>
              <a:ext uri="{FF2B5EF4-FFF2-40B4-BE49-F238E27FC236}">
                <a16:creationId xmlns:a16="http://schemas.microsoft.com/office/drawing/2014/main" id="{2FB74B61-58AF-E754-54E9-B97D575CE3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4" name="Espace réservé de la date 3">
            <a:extLst>
              <a:ext uri="{FF2B5EF4-FFF2-40B4-BE49-F238E27FC236}">
                <a16:creationId xmlns:a16="http://schemas.microsoft.com/office/drawing/2014/main" id="{CD7DB269-5CB4-0B0C-073B-1DA5251374BC}"/>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D79DD081-0851-9941-637B-ADD2E3D1CDE1}"/>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32002B71-3EEA-76A7-7276-B0BE8142307C}"/>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1781685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D97460-BC34-B893-D4DC-2FBE211B50D4}"/>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479A9639-EF77-331D-E36E-80BEC7B3778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693A7212-E8B5-308D-5213-C5A109963218}"/>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B0A34582-3816-E9D7-D498-48AEFE111204}"/>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E9951202-D535-C3FF-F483-9CE7B34FE963}"/>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923173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58E38A-99CA-6881-7322-04D967A5D9F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3" name="Espace réservé du texte 2">
            <a:extLst>
              <a:ext uri="{FF2B5EF4-FFF2-40B4-BE49-F238E27FC236}">
                <a16:creationId xmlns:a16="http://schemas.microsoft.com/office/drawing/2014/main" id="{458086E5-CB78-98A7-33F4-31C8A5B406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A11AFBF-52EA-B915-1335-18D88273DAA6}"/>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28DA89DF-245A-83DD-C7DF-DFD01AD0458E}"/>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2AE9DC82-27A9-BFD0-0B3D-90C07363B9DB}"/>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377645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1DC8CF-BE66-78A1-B287-8415578938C7}"/>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D13C40F7-FD52-9D40-0EDA-AAEC2DAC28A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contenu 3">
            <a:extLst>
              <a:ext uri="{FF2B5EF4-FFF2-40B4-BE49-F238E27FC236}">
                <a16:creationId xmlns:a16="http://schemas.microsoft.com/office/drawing/2014/main" id="{6DAE0FDD-E7B3-ED49-D5C1-C9F0BE42DE4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e la date 4">
            <a:extLst>
              <a:ext uri="{FF2B5EF4-FFF2-40B4-BE49-F238E27FC236}">
                <a16:creationId xmlns:a16="http://schemas.microsoft.com/office/drawing/2014/main" id="{8ED5B5CD-DF37-2E50-832A-D5BB3C6B54C1}"/>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6" name="Espace réservé du pied de page 5">
            <a:extLst>
              <a:ext uri="{FF2B5EF4-FFF2-40B4-BE49-F238E27FC236}">
                <a16:creationId xmlns:a16="http://schemas.microsoft.com/office/drawing/2014/main" id="{2865918C-4DC4-8E39-0C3A-787DAC10307E}"/>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2B14CCBF-56DC-E13B-DD4A-9D21199D0CBA}"/>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784260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1909AD-5120-F07A-8C71-F9B5BEF08875}"/>
              </a:ext>
            </a:extLst>
          </p:cNvPr>
          <p:cNvSpPr>
            <a:spLocks noGrp="1"/>
          </p:cNvSpPr>
          <p:nvPr>
            <p:ph type="title"/>
          </p:nvPr>
        </p:nvSpPr>
        <p:spPr>
          <a:xfrm>
            <a:off x="839788" y="365125"/>
            <a:ext cx="10515600" cy="1325563"/>
          </a:xfrm>
        </p:spPr>
        <p:txBody>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B2908D09-664D-87B8-943E-E0EA402C35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2B4D89D-87F9-C45E-BCC7-9C76F02D3C0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u texte 4">
            <a:extLst>
              <a:ext uri="{FF2B5EF4-FFF2-40B4-BE49-F238E27FC236}">
                <a16:creationId xmlns:a16="http://schemas.microsoft.com/office/drawing/2014/main" id="{717F897E-90DF-895C-F2B6-8AF8AB22C8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DCFB36-CD6E-F7AB-8419-BDD7F7F5ACB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7" name="Espace réservé de la date 6">
            <a:extLst>
              <a:ext uri="{FF2B5EF4-FFF2-40B4-BE49-F238E27FC236}">
                <a16:creationId xmlns:a16="http://schemas.microsoft.com/office/drawing/2014/main" id="{18C4D69D-14DE-738C-A20E-1DA2BD1912AC}"/>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8" name="Espace réservé du pied de page 7">
            <a:extLst>
              <a:ext uri="{FF2B5EF4-FFF2-40B4-BE49-F238E27FC236}">
                <a16:creationId xmlns:a16="http://schemas.microsoft.com/office/drawing/2014/main" id="{65B3E028-CA5B-E6C7-C31D-BC0E20C0A915}"/>
              </a:ext>
            </a:extLst>
          </p:cNvPr>
          <p:cNvSpPr>
            <a:spLocks noGrp="1"/>
          </p:cNvSpPr>
          <p:nvPr>
            <p:ph type="ftr" sz="quarter" idx="11"/>
          </p:nvPr>
        </p:nvSpPr>
        <p:spPr/>
        <p:txBody>
          <a:bodyPr/>
          <a:lstStyle/>
          <a:p>
            <a:endParaRPr lang="fr-MA"/>
          </a:p>
        </p:txBody>
      </p:sp>
      <p:sp>
        <p:nvSpPr>
          <p:cNvPr id="9" name="Espace réservé du numéro de diapositive 8">
            <a:extLst>
              <a:ext uri="{FF2B5EF4-FFF2-40B4-BE49-F238E27FC236}">
                <a16:creationId xmlns:a16="http://schemas.microsoft.com/office/drawing/2014/main" id="{18227C2F-83B2-298F-348C-619FA9E4213E}"/>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121852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AE61DA-5E7A-9C54-F695-C59193E2ADB2}"/>
              </a:ext>
            </a:extLst>
          </p:cNvPr>
          <p:cNvSpPr>
            <a:spLocks noGrp="1"/>
          </p:cNvSpPr>
          <p:nvPr>
            <p:ph type="title"/>
          </p:nvPr>
        </p:nvSpPr>
        <p:spPr/>
        <p:txBody>
          <a:bodyPr/>
          <a:lstStyle/>
          <a:p>
            <a:r>
              <a:rPr lang="fr-FR"/>
              <a:t>Modifiez le style du titre</a:t>
            </a:r>
            <a:endParaRPr lang="fr-MA"/>
          </a:p>
        </p:txBody>
      </p:sp>
      <p:sp>
        <p:nvSpPr>
          <p:cNvPr id="3" name="Espace réservé de la date 2">
            <a:extLst>
              <a:ext uri="{FF2B5EF4-FFF2-40B4-BE49-F238E27FC236}">
                <a16:creationId xmlns:a16="http://schemas.microsoft.com/office/drawing/2014/main" id="{F3D0BD0D-D78A-4542-71C9-CF5258DD5CFF}"/>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4" name="Espace réservé du pied de page 3">
            <a:extLst>
              <a:ext uri="{FF2B5EF4-FFF2-40B4-BE49-F238E27FC236}">
                <a16:creationId xmlns:a16="http://schemas.microsoft.com/office/drawing/2014/main" id="{020B9325-B4B2-3A52-9A40-F0B3137E30C1}"/>
              </a:ext>
            </a:extLst>
          </p:cNvPr>
          <p:cNvSpPr>
            <a:spLocks noGrp="1"/>
          </p:cNvSpPr>
          <p:nvPr>
            <p:ph type="ftr" sz="quarter" idx="11"/>
          </p:nvPr>
        </p:nvSpPr>
        <p:spPr/>
        <p:txBody>
          <a:bodyPr/>
          <a:lstStyle/>
          <a:p>
            <a:endParaRPr lang="fr-MA"/>
          </a:p>
        </p:txBody>
      </p:sp>
      <p:sp>
        <p:nvSpPr>
          <p:cNvPr id="5" name="Espace réservé du numéro de diapositive 4">
            <a:extLst>
              <a:ext uri="{FF2B5EF4-FFF2-40B4-BE49-F238E27FC236}">
                <a16:creationId xmlns:a16="http://schemas.microsoft.com/office/drawing/2014/main" id="{081F676D-7692-3749-BDB2-66FD5CBE1988}"/>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1753782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FB6A737-863F-0583-2119-175CAB0146F1}"/>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3" name="Espace réservé du pied de page 2">
            <a:extLst>
              <a:ext uri="{FF2B5EF4-FFF2-40B4-BE49-F238E27FC236}">
                <a16:creationId xmlns:a16="http://schemas.microsoft.com/office/drawing/2014/main" id="{031D0BAB-E67F-CDAD-F8E1-C08ADCF0E929}"/>
              </a:ext>
            </a:extLst>
          </p:cNvPr>
          <p:cNvSpPr>
            <a:spLocks noGrp="1"/>
          </p:cNvSpPr>
          <p:nvPr>
            <p:ph type="ftr" sz="quarter" idx="11"/>
          </p:nvPr>
        </p:nvSpPr>
        <p:spPr/>
        <p:txBody>
          <a:bodyPr/>
          <a:lstStyle/>
          <a:p>
            <a:endParaRPr lang="fr-MA"/>
          </a:p>
        </p:txBody>
      </p:sp>
      <p:sp>
        <p:nvSpPr>
          <p:cNvPr id="4" name="Espace réservé du numéro de diapositive 3">
            <a:extLst>
              <a:ext uri="{FF2B5EF4-FFF2-40B4-BE49-F238E27FC236}">
                <a16:creationId xmlns:a16="http://schemas.microsoft.com/office/drawing/2014/main" id="{1FA4C203-8F4F-7605-4644-A7FE210F3C44}"/>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28890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66076F-47A6-5613-6458-1668E3F9795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du contenu 2">
            <a:extLst>
              <a:ext uri="{FF2B5EF4-FFF2-40B4-BE49-F238E27FC236}">
                <a16:creationId xmlns:a16="http://schemas.microsoft.com/office/drawing/2014/main" id="{E27E20A7-6B36-31A9-EE86-E83CDB2087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texte 3">
            <a:extLst>
              <a:ext uri="{FF2B5EF4-FFF2-40B4-BE49-F238E27FC236}">
                <a16:creationId xmlns:a16="http://schemas.microsoft.com/office/drawing/2014/main" id="{787E9E77-AAEC-1572-8637-88C7413442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F194FF-0E71-1922-5933-05086A4D23A3}"/>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6" name="Espace réservé du pied de page 5">
            <a:extLst>
              <a:ext uri="{FF2B5EF4-FFF2-40B4-BE49-F238E27FC236}">
                <a16:creationId xmlns:a16="http://schemas.microsoft.com/office/drawing/2014/main" id="{A7943DBB-EF23-D15C-FD36-0ED392D2A873}"/>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44379211-9089-7EB6-5F40-7D22F6FFD0E6}"/>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339925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8C7D02-69FA-669B-6457-8FF813BDAFC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pour une image  2">
            <a:extLst>
              <a:ext uri="{FF2B5EF4-FFF2-40B4-BE49-F238E27FC236}">
                <a16:creationId xmlns:a16="http://schemas.microsoft.com/office/drawing/2014/main" id="{AF0A8B23-5169-E149-F2B7-EEA94EAF0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4" name="Espace réservé du texte 3">
            <a:extLst>
              <a:ext uri="{FF2B5EF4-FFF2-40B4-BE49-F238E27FC236}">
                <a16:creationId xmlns:a16="http://schemas.microsoft.com/office/drawing/2014/main" id="{DA1FAAFD-7CAF-280A-C18A-F024670C55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A953414-B41C-A309-9D20-0F23C3EAECD5}"/>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6" name="Espace réservé du pied de page 5">
            <a:extLst>
              <a:ext uri="{FF2B5EF4-FFF2-40B4-BE49-F238E27FC236}">
                <a16:creationId xmlns:a16="http://schemas.microsoft.com/office/drawing/2014/main" id="{670E22AD-34B4-13CD-7161-4241B2FC38E1}"/>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85DC4580-917D-C7C7-1D6F-5EAC040F1F08}"/>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1012120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98953-5AFD-7D8F-89A6-9C0AC55AF7D1}"/>
              </a:ext>
            </a:extLst>
          </p:cNvPr>
          <p:cNvSpPr>
            <a:spLocks noGrp="1"/>
          </p:cNvSpPr>
          <p:nvPr>
            <p:ph type="title"/>
          </p:nvPr>
        </p:nvSpPr>
        <p:spPr/>
        <p:txBody>
          <a:bodyPr/>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649B3722-3EE3-C02D-D533-C6FB3144AA6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FC69767B-7205-EBDF-E46F-C2B1480B29A1}"/>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BA8E3EE7-06D7-0AA2-F305-D3014236108B}"/>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B91224C5-48FC-2043-5361-DF9B7A747A1A}"/>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2301157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0C6CBF3-F6F3-7933-78B3-D68BD3CEEA8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5984AD64-316E-E6E4-49FC-4FF1BDBC566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39178E6E-0390-249E-AB9C-FB7F13ABE3C5}"/>
              </a:ext>
            </a:extLst>
          </p:cNvPr>
          <p:cNvSpPr>
            <a:spLocks noGrp="1"/>
          </p:cNvSpPr>
          <p:nvPr>
            <p:ph type="dt" sz="half" idx="10"/>
          </p:nvPr>
        </p:nvSpPr>
        <p:spPr/>
        <p:txBody>
          <a:body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76FC2329-BC3D-996B-E392-EC511BEA1F40}"/>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83534415-1817-7B8D-10F2-1F8B026C02E5}"/>
              </a:ext>
            </a:extLst>
          </p:cNvPr>
          <p:cNvSpPr>
            <a:spLocks noGrp="1"/>
          </p:cNvSpPr>
          <p:nvPr>
            <p:ph type="sldNum" sz="quarter" idx="12"/>
          </p:nvPr>
        </p:nvSpPr>
        <p:spPr/>
        <p:txBody>
          <a:bodyPr/>
          <a:lstStyle/>
          <a:p>
            <a:fld id="{94112E33-3302-4B5C-899F-C04D399B383E}" type="slidenum">
              <a:rPr lang="fr-MA" smtClean="0"/>
              <a:t>‹N°›</a:t>
            </a:fld>
            <a:endParaRPr lang="fr-MA"/>
          </a:p>
        </p:txBody>
      </p:sp>
    </p:spTree>
    <p:extLst>
      <p:ext uri="{BB962C8B-B14F-4D97-AF65-F5344CB8AC3E}">
        <p14:creationId xmlns:p14="http://schemas.microsoft.com/office/powerpoint/2010/main" val="1929445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C38799F-3337-0B15-336D-2710F624C0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F246DA58-705C-8614-F779-229719C3A2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C708642E-D71E-832B-BA53-C3472D6AD2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B03EFD-B94A-4547-AAF2-97D0D7EDEC0E}" type="datetimeFigureOut">
              <a:rPr lang="fr-MA" smtClean="0"/>
              <a:t>25/12/2025</a:t>
            </a:fld>
            <a:endParaRPr lang="fr-MA"/>
          </a:p>
        </p:txBody>
      </p:sp>
      <p:sp>
        <p:nvSpPr>
          <p:cNvPr id="5" name="Espace réservé du pied de page 4">
            <a:extLst>
              <a:ext uri="{FF2B5EF4-FFF2-40B4-BE49-F238E27FC236}">
                <a16:creationId xmlns:a16="http://schemas.microsoft.com/office/drawing/2014/main" id="{73EE5777-1AC5-704B-158E-52B332B24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MA"/>
          </a:p>
        </p:txBody>
      </p:sp>
      <p:sp>
        <p:nvSpPr>
          <p:cNvPr id="6" name="Espace réservé du numéro de diapositive 5">
            <a:extLst>
              <a:ext uri="{FF2B5EF4-FFF2-40B4-BE49-F238E27FC236}">
                <a16:creationId xmlns:a16="http://schemas.microsoft.com/office/drawing/2014/main" id="{419B8B04-1539-53F5-50E2-7E13C88A8E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112E33-3302-4B5C-899F-C04D399B383E}" type="slidenum">
              <a:rPr lang="fr-MA" smtClean="0"/>
              <a:t>‹N°›</a:t>
            </a:fld>
            <a:endParaRPr lang="fr-MA"/>
          </a:p>
        </p:txBody>
      </p:sp>
    </p:spTree>
    <p:extLst>
      <p:ext uri="{BB962C8B-B14F-4D97-AF65-F5344CB8AC3E}">
        <p14:creationId xmlns:p14="http://schemas.microsoft.com/office/powerpoint/2010/main" val="1980466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68C6C4-F985-A2E5-62DC-3EF3F71FD952}"/>
              </a:ext>
            </a:extLst>
          </p:cNvPr>
          <p:cNvSpPr>
            <a:spLocks noGrp="1"/>
          </p:cNvSpPr>
          <p:nvPr>
            <p:ph type="ctrTitle"/>
          </p:nvPr>
        </p:nvSpPr>
        <p:spPr>
          <a:xfrm>
            <a:off x="1524000" y="936171"/>
            <a:ext cx="9144000" cy="4462008"/>
          </a:xfrm>
        </p:spPr>
        <p:txBody>
          <a:bodyPr>
            <a:normAutofit/>
          </a:bodyPr>
          <a:lstStyle/>
          <a:p>
            <a:r>
              <a:rPr lang="en-BE" sz="8800" b="1" dirty="0">
                <a:effectLst>
                  <a:outerShdw blurRad="38100" dist="38100" dir="2700000" algn="tl">
                    <a:srgbClr val="000000">
                      <a:alpha val="43137"/>
                    </a:srgbClr>
                  </a:outerShdw>
                </a:effectLst>
                <a:latin typeface="Arial Black" panose="020B0A04020102020204" pitchFamily="34" charset="0"/>
              </a:rPr>
              <a:t>ALGORITHME DE COMPILATION</a:t>
            </a:r>
            <a:endParaRPr lang="fr-MA" sz="8800" b="1" dirty="0">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247592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224F92-6CED-260D-08CC-965E645591D5}"/>
              </a:ext>
            </a:extLst>
          </p:cNvPr>
          <p:cNvSpPr>
            <a:spLocks noGrp="1"/>
          </p:cNvSpPr>
          <p:nvPr>
            <p:ph type="title"/>
          </p:nvPr>
        </p:nvSpPr>
        <p:spPr>
          <a:xfrm>
            <a:off x="936171" y="2628900"/>
            <a:ext cx="9829799" cy="1600200"/>
          </a:xfrm>
        </p:spPr>
        <p:txBody>
          <a:bodyPr>
            <a:noAutofit/>
          </a:bodyPr>
          <a:lstStyle/>
          <a:p>
            <a:pPr marL="1143000" indent="-1143000">
              <a:buFont typeface="Wingdings" panose="05000000000000000000" pitchFamily="2" charset="2"/>
              <a:buChar char="ü"/>
            </a:pPr>
            <a:r>
              <a:rPr lang="en-BE" sz="12500" b="1" dirty="0"/>
              <a:t>Introduction</a:t>
            </a:r>
            <a:r>
              <a:rPr lang="en-BE" sz="12500" b="1" dirty="0">
                <a:latin typeface="Aptos Display" panose="020B0004020202020204" pitchFamily="34" charset="0"/>
              </a:rPr>
              <a:t> </a:t>
            </a:r>
            <a:endParaRPr lang="fr-MA" sz="12500" b="1" dirty="0">
              <a:latin typeface="Aptos Display" panose="020B0004020202020204" pitchFamily="34" charset="0"/>
            </a:endParaRPr>
          </a:p>
        </p:txBody>
      </p:sp>
    </p:spTree>
    <p:extLst>
      <p:ext uri="{BB962C8B-B14F-4D97-AF65-F5344CB8AC3E}">
        <p14:creationId xmlns:p14="http://schemas.microsoft.com/office/powerpoint/2010/main" val="2526897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8D13DC-CCAF-933F-AB65-54437E6957AA}"/>
              </a:ext>
            </a:extLst>
          </p:cNvPr>
          <p:cNvSpPr>
            <a:spLocks noGrp="1"/>
          </p:cNvSpPr>
          <p:nvPr>
            <p:ph type="title"/>
          </p:nvPr>
        </p:nvSpPr>
        <p:spPr>
          <a:xfrm>
            <a:off x="839788" y="293914"/>
            <a:ext cx="7912326" cy="1600200"/>
          </a:xfrm>
        </p:spPr>
        <p:txBody>
          <a:bodyPr>
            <a:normAutofit/>
          </a:bodyPr>
          <a:lstStyle/>
          <a:p>
            <a:pPr marL="571500" indent="-571500">
              <a:buFont typeface="Wingdings" panose="05000000000000000000" pitchFamily="2" charset="2"/>
              <a:buChar char="ü"/>
            </a:pPr>
            <a:r>
              <a:rPr lang="fr-MA" sz="4400" b="1" dirty="0">
                <a:latin typeface="Aptos Display" panose="020B0004020202020204" pitchFamily="34" charset="0"/>
              </a:rPr>
              <a:t>Étapes principales </a:t>
            </a:r>
            <a:r>
              <a:rPr lang="en-BE" sz="4400" b="1" dirty="0">
                <a:latin typeface="Aptos Display" panose="020B0004020202020204" pitchFamily="34" charset="0"/>
              </a:rPr>
              <a:t>de</a:t>
            </a:r>
            <a:r>
              <a:rPr lang="fr-MA" sz="4400" b="1" dirty="0">
                <a:latin typeface="Aptos Display" panose="020B0004020202020204" pitchFamily="34" charset="0"/>
              </a:rPr>
              <a:t> </a:t>
            </a:r>
            <a:r>
              <a:rPr lang="fr-MA" sz="4400" b="1" dirty="0" err="1">
                <a:latin typeface="Aptos Display" panose="020B0004020202020204" pitchFamily="34" charset="0"/>
              </a:rPr>
              <a:t>compilat</a:t>
            </a:r>
            <a:r>
              <a:rPr lang="en-BE" sz="4400" b="1" dirty="0">
                <a:latin typeface="Aptos Display" panose="020B0004020202020204" pitchFamily="34" charset="0"/>
              </a:rPr>
              <a:t>ion  :</a:t>
            </a:r>
            <a:endParaRPr lang="fr-MA" sz="4400" b="1" dirty="0">
              <a:latin typeface="Aptos Display" panose="020B0004020202020204" pitchFamily="34" charset="0"/>
            </a:endParaRPr>
          </a:p>
        </p:txBody>
      </p:sp>
      <p:sp>
        <p:nvSpPr>
          <p:cNvPr id="4" name="Espace réservé du texte 3">
            <a:extLst>
              <a:ext uri="{FF2B5EF4-FFF2-40B4-BE49-F238E27FC236}">
                <a16:creationId xmlns:a16="http://schemas.microsoft.com/office/drawing/2014/main" id="{D8B7CFB1-7A45-6C73-7919-EB1771A6D7C0}"/>
              </a:ext>
            </a:extLst>
          </p:cNvPr>
          <p:cNvSpPr>
            <a:spLocks noGrp="1"/>
          </p:cNvSpPr>
          <p:nvPr>
            <p:ph type="body" sz="half" idx="2"/>
          </p:nvPr>
        </p:nvSpPr>
        <p:spPr>
          <a:xfrm>
            <a:off x="839788" y="2057400"/>
            <a:ext cx="4777241" cy="3811588"/>
          </a:xfrm>
        </p:spPr>
        <p:txBody>
          <a:bodyPr>
            <a:normAutofit/>
          </a:bodyPr>
          <a:lstStyle/>
          <a:p>
            <a:pPr marL="285750" indent="-285750">
              <a:buFont typeface="Courier New" panose="02070309020205020404" pitchFamily="49" charset="0"/>
              <a:buChar char="o"/>
            </a:pPr>
            <a:r>
              <a:rPr lang="fr-MA" sz="1800" b="1" u="sng" dirty="0">
                <a:highlight>
                  <a:srgbClr val="FFFF00"/>
                </a:highlight>
              </a:rPr>
              <a:t>Analyse lexicale (Scanner)</a:t>
            </a:r>
            <a:r>
              <a:rPr lang="en-BE" sz="1800" b="1" u="sng" dirty="0">
                <a:highlight>
                  <a:srgbClr val="FFFF00"/>
                </a:highlight>
              </a:rPr>
              <a:t> :</a:t>
            </a:r>
          </a:p>
          <a:p>
            <a:r>
              <a:rPr lang="fr-FR" sz="1800" dirty="0"/>
              <a:t>Découper le texte source en </a:t>
            </a:r>
            <a:r>
              <a:rPr lang="fr-FR" sz="1800" b="1" dirty="0" err="1"/>
              <a:t>tokens</a:t>
            </a:r>
            <a:r>
              <a:rPr lang="fr-FR" sz="1800" dirty="0"/>
              <a:t>.</a:t>
            </a:r>
            <a:endParaRPr lang="en-BE" sz="1800" dirty="0"/>
          </a:p>
          <a:p>
            <a:r>
              <a:rPr lang="fr-MA" sz="1800" dirty="0"/>
              <a:t>La ligne </a:t>
            </a:r>
            <a:r>
              <a:rPr lang="fr-MA" b="1" dirty="0"/>
              <a:t>LDA $02</a:t>
            </a:r>
            <a:r>
              <a:rPr lang="fr-MA" sz="1800" b="1" dirty="0"/>
              <a:t> </a:t>
            </a:r>
            <a:r>
              <a:rPr lang="fr-MA" sz="1800" dirty="0"/>
              <a:t>est séparée en deux </a:t>
            </a:r>
            <a:r>
              <a:rPr lang="fr-MA" sz="1800" dirty="0" err="1"/>
              <a:t>tokens</a:t>
            </a:r>
            <a:r>
              <a:rPr lang="fr-MA" sz="1800" dirty="0"/>
              <a:t> : </a:t>
            </a:r>
            <a:r>
              <a:rPr lang="fr-MA" b="1" dirty="0"/>
              <a:t>"LDA"</a:t>
            </a:r>
            <a:r>
              <a:rPr lang="fr-MA" sz="1800" b="1" dirty="0"/>
              <a:t> </a:t>
            </a:r>
            <a:r>
              <a:rPr lang="fr-MA" sz="1800" dirty="0"/>
              <a:t>et </a:t>
            </a:r>
            <a:r>
              <a:rPr lang="fr-MA" b="1" dirty="0"/>
              <a:t>"$02"</a:t>
            </a:r>
            <a:r>
              <a:rPr lang="fr-MA" sz="1800" b="1" dirty="0"/>
              <a:t>.</a:t>
            </a:r>
          </a:p>
          <a:p>
            <a:r>
              <a:rPr lang="fr-MA" sz="1800" b="1" dirty="0">
                <a:solidFill>
                  <a:schemeClr val="tx2">
                    <a:lumMod val="50000"/>
                    <a:lumOff val="50000"/>
                  </a:schemeClr>
                </a:solidFill>
              </a:rPr>
              <a:t>Dans </a:t>
            </a:r>
            <a:r>
              <a:rPr lang="fr-MA" b="1" dirty="0" err="1">
                <a:solidFill>
                  <a:schemeClr val="tx2">
                    <a:lumMod val="50000"/>
                    <a:lumOff val="50000"/>
                  </a:schemeClr>
                </a:solidFill>
              </a:rPr>
              <a:t>Decodeur.decoderLigne</a:t>
            </a:r>
            <a:r>
              <a:rPr lang="fr-MA" b="1" dirty="0">
                <a:solidFill>
                  <a:schemeClr val="tx2">
                    <a:lumMod val="50000"/>
                    <a:lumOff val="50000"/>
                  </a:schemeClr>
                </a:solidFill>
              </a:rPr>
              <a:t>()</a:t>
            </a:r>
            <a:r>
              <a:rPr lang="fr-MA" sz="1800" b="1" dirty="0">
                <a:solidFill>
                  <a:schemeClr val="tx2">
                    <a:lumMod val="50000"/>
                    <a:lumOff val="50000"/>
                  </a:schemeClr>
                </a:solidFill>
              </a:rPr>
              <a:t>, tu as :</a:t>
            </a:r>
          </a:p>
          <a:p>
            <a:r>
              <a:rPr lang="fr-MA" b="1" dirty="0">
                <a:solidFill>
                  <a:schemeClr val="tx2">
                    <a:lumMod val="50000"/>
                    <a:lumOff val="50000"/>
                  </a:schemeClr>
                </a:solidFill>
              </a:rPr>
              <a:t>String[] </a:t>
            </a:r>
            <a:r>
              <a:rPr lang="fr-MA" b="1" dirty="0" err="1">
                <a:solidFill>
                  <a:schemeClr val="tx2">
                    <a:lumMod val="50000"/>
                    <a:lumOff val="50000"/>
                  </a:schemeClr>
                </a:solidFill>
              </a:rPr>
              <a:t>tokens</a:t>
            </a:r>
            <a:r>
              <a:rPr lang="fr-MA" b="1" dirty="0">
                <a:solidFill>
                  <a:schemeClr val="tx2">
                    <a:lumMod val="50000"/>
                    <a:lumOff val="50000"/>
                  </a:schemeClr>
                </a:solidFill>
              </a:rPr>
              <a:t> = </a:t>
            </a:r>
            <a:r>
              <a:rPr lang="fr-MA" b="1" dirty="0" err="1">
                <a:solidFill>
                  <a:schemeClr val="tx2">
                    <a:lumMod val="50000"/>
                    <a:lumOff val="50000"/>
                  </a:schemeClr>
                </a:solidFill>
              </a:rPr>
              <a:t>ligne.split</a:t>
            </a:r>
            <a:r>
              <a:rPr lang="fr-MA" b="1" dirty="0">
                <a:solidFill>
                  <a:schemeClr val="tx2">
                    <a:lumMod val="50000"/>
                    <a:lumOff val="50000"/>
                  </a:schemeClr>
                </a:solidFill>
              </a:rPr>
              <a:t>("\\s+");</a:t>
            </a:r>
          </a:p>
          <a:p>
            <a:r>
              <a:rPr lang="fr-MA" b="1" dirty="0">
                <a:solidFill>
                  <a:schemeClr val="tx2">
                    <a:lumMod val="50000"/>
                    <a:lumOff val="50000"/>
                  </a:schemeClr>
                </a:solidFill>
              </a:rPr>
              <a:t>String </a:t>
            </a:r>
            <a:r>
              <a:rPr lang="fr-MA" b="1" dirty="0" err="1">
                <a:solidFill>
                  <a:schemeClr val="tx2">
                    <a:lumMod val="50000"/>
                    <a:lumOff val="50000"/>
                  </a:schemeClr>
                </a:solidFill>
              </a:rPr>
              <a:t>mnemonic</a:t>
            </a:r>
            <a:r>
              <a:rPr lang="fr-MA" b="1" dirty="0">
                <a:solidFill>
                  <a:schemeClr val="tx2">
                    <a:lumMod val="50000"/>
                    <a:lumOff val="50000"/>
                  </a:schemeClr>
                </a:solidFill>
              </a:rPr>
              <a:t> = </a:t>
            </a:r>
            <a:r>
              <a:rPr lang="fr-MA" b="1" dirty="0" err="1">
                <a:solidFill>
                  <a:schemeClr val="tx2">
                    <a:lumMod val="50000"/>
                    <a:lumOff val="50000"/>
                  </a:schemeClr>
                </a:solidFill>
              </a:rPr>
              <a:t>tokens</a:t>
            </a:r>
            <a:r>
              <a:rPr lang="fr-MA" b="1" dirty="0">
                <a:solidFill>
                  <a:schemeClr val="tx2">
                    <a:lumMod val="50000"/>
                    <a:lumOff val="50000"/>
                  </a:schemeClr>
                </a:solidFill>
              </a:rPr>
              <a:t>[0].</a:t>
            </a:r>
            <a:r>
              <a:rPr lang="fr-MA" b="1" dirty="0" err="1">
                <a:solidFill>
                  <a:schemeClr val="tx2">
                    <a:lumMod val="50000"/>
                    <a:lumOff val="50000"/>
                  </a:schemeClr>
                </a:solidFill>
              </a:rPr>
              <a:t>toUpperCase</a:t>
            </a:r>
            <a:r>
              <a:rPr lang="fr-MA" b="1" dirty="0">
                <a:solidFill>
                  <a:schemeClr val="tx2">
                    <a:lumMod val="50000"/>
                    <a:lumOff val="50000"/>
                  </a:schemeClr>
                </a:solidFill>
              </a:rPr>
              <a:t>();</a:t>
            </a:r>
          </a:p>
          <a:p>
            <a:r>
              <a:rPr lang="fr-MA" b="1" dirty="0">
                <a:solidFill>
                  <a:schemeClr val="tx2">
                    <a:lumMod val="50000"/>
                    <a:lumOff val="50000"/>
                  </a:schemeClr>
                </a:solidFill>
              </a:rPr>
              <a:t>String </a:t>
            </a:r>
            <a:r>
              <a:rPr lang="fr-MA" b="1" dirty="0" err="1">
                <a:solidFill>
                  <a:schemeClr val="tx2">
                    <a:lumMod val="50000"/>
                    <a:lumOff val="50000"/>
                  </a:schemeClr>
                </a:solidFill>
              </a:rPr>
              <a:t>operand</a:t>
            </a:r>
            <a:r>
              <a:rPr lang="fr-MA" b="1" dirty="0">
                <a:solidFill>
                  <a:schemeClr val="tx2">
                    <a:lumMod val="50000"/>
                    <a:lumOff val="50000"/>
                  </a:schemeClr>
                </a:solidFill>
              </a:rPr>
              <a:t> = </a:t>
            </a:r>
            <a:r>
              <a:rPr lang="fr-MA" b="1" dirty="0" err="1">
                <a:solidFill>
                  <a:schemeClr val="tx2">
                    <a:lumMod val="50000"/>
                    <a:lumOff val="50000"/>
                  </a:schemeClr>
                </a:solidFill>
              </a:rPr>
              <a:t>tokens</a:t>
            </a:r>
            <a:r>
              <a:rPr lang="fr-MA" b="1" dirty="0">
                <a:solidFill>
                  <a:schemeClr val="tx2">
                    <a:lumMod val="50000"/>
                    <a:lumOff val="50000"/>
                  </a:schemeClr>
                </a:solidFill>
              </a:rPr>
              <a:t>[1].</a:t>
            </a:r>
            <a:r>
              <a:rPr lang="fr-MA" b="1" dirty="0" err="1">
                <a:solidFill>
                  <a:schemeClr val="tx2">
                    <a:lumMod val="50000"/>
                    <a:lumOff val="50000"/>
                  </a:schemeClr>
                </a:solidFill>
              </a:rPr>
              <a:t>toUpperCase</a:t>
            </a:r>
            <a:r>
              <a:rPr lang="fr-MA" b="1" dirty="0">
                <a:solidFill>
                  <a:schemeClr val="tx2">
                    <a:lumMod val="50000"/>
                    <a:lumOff val="50000"/>
                  </a:schemeClr>
                </a:solidFill>
              </a:rPr>
              <a:t>();</a:t>
            </a:r>
          </a:p>
          <a:p>
            <a:r>
              <a:rPr lang="fr-MA" sz="1800" dirty="0"/>
              <a:t>Ici, </a:t>
            </a:r>
            <a:r>
              <a:rPr lang="fr-MA" dirty="0"/>
              <a:t>"LDA"</a:t>
            </a:r>
            <a:r>
              <a:rPr lang="fr-MA" sz="1800" dirty="0"/>
              <a:t> est un </a:t>
            </a:r>
            <a:r>
              <a:rPr lang="fr-MA" sz="1800" b="1" dirty="0" err="1"/>
              <a:t>mnemonic</a:t>
            </a:r>
            <a:r>
              <a:rPr lang="fr-MA" sz="1800" dirty="0"/>
              <a:t>, et </a:t>
            </a:r>
            <a:r>
              <a:rPr lang="fr-MA" dirty="0"/>
              <a:t>"$02"</a:t>
            </a:r>
            <a:r>
              <a:rPr lang="fr-MA" sz="1800" dirty="0"/>
              <a:t> est l’</a:t>
            </a:r>
            <a:r>
              <a:rPr lang="fr-MA" sz="1800" b="1" dirty="0"/>
              <a:t>opérande</a:t>
            </a:r>
            <a:r>
              <a:rPr lang="fr-MA" sz="1800" dirty="0"/>
              <a:t>.</a:t>
            </a:r>
          </a:p>
          <a:p>
            <a:endParaRPr lang="fr-MA" sz="1800" b="1" u="sng" dirty="0">
              <a:highlight>
                <a:srgbClr val="FFFF00"/>
              </a:highlight>
            </a:endParaRPr>
          </a:p>
        </p:txBody>
      </p:sp>
      <p:sp>
        <p:nvSpPr>
          <p:cNvPr id="5" name="Espace réservé du texte 3">
            <a:extLst>
              <a:ext uri="{FF2B5EF4-FFF2-40B4-BE49-F238E27FC236}">
                <a16:creationId xmlns:a16="http://schemas.microsoft.com/office/drawing/2014/main" id="{261A6DB5-6348-8B85-E411-F9724D30412A}"/>
              </a:ext>
            </a:extLst>
          </p:cNvPr>
          <p:cNvSpPr txBox="1">
            <a:spLocks/>
          </p:cNvSpPr>
          <p:nvPr/>
        </p:nvSpPr>
        <p:spPr>
          <a:xfrm>
            <a:off x="5617029" y="2057400"/>
            <a:ext cx="4940527" cy="38115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indent="-285750">
              <a:buFont typeface="Courier New" panose="02070309020205020404" pitchFamily="49" charset="0"/>
              <a:buChar char="o"/>
            </a:pPr>
            <a:r>
              <a:rPr lang="fr-MA" sz="1800" b="1" u="sng" dirty="0">
                <a:highlight>
                  <a:srgbClr val="FFFF00"/>
                </a:highlight>
              </a:rPr>
              <a:t>Analyse syntaxique </a:t>
            </a:r>
            <a:r>
              <a:rPr lang="en-BE" sz="1800" b="1" u="sng" dirty="0">
                <a:highlight>
                  <a:srgbClr val="FFFF00"/>
                </a:highlight>
              </a:rPr>
              <a:t>:</a:t>
            </a:r>
          </a:p>
          <a:p>
            <a:r>
              <a:rPr lang="fr-FR" sz="1800" dirty="0"/>
              <a:t>Vérifier que la structure de la ligne respecte la grammaire du langage</a:t>
            </a:r>
            <a:r>
              <a:rPr lang="en-BE" sz="1800" dirty="0"/>
              <a:t> .</a:t>
            </a:r>
          </a:p>
          <a:p>
            <a:r>
              <a:rPr lang="fr-FR" sz="1800" dirty="0"/>
              <a:t>Le </a:t>
            </a:r>
            <a:r>
              <a:rPr lang="fr-FR" sz="1800" dirty="0" err="1"/>
              <a:t>parser</a:t>
            </a:r>
            <a:r>
              <a:rPr lang="fr-FR" sz="1800" dirty="0"/>
              <a:t> vérifie que le </a:t>
            </a:r>
            <a:r>
              <a:rPr lang="fr-FR" sz="1800" dirty="0" err="1"/>
              <a:t>mnemonic</a:t>
            </a:r>
            <a:r>
              <a:rPr lang="fr-FR" sz="1800" dirty="0"/>
              <a:t> existe :</a:t>
            </a:r>
          </a:p>
          <a:p>
            <a:r>
              <a:rPr lang="fr-FR" b="1" dirty="0">
                <a:solidFill>
                  <a:schemeClr val="tx2">
                    <a:lumMod val="50000"/>
                    <a:lumOff val="50000"/>
                  </a:schemeClr>
                </a:solidFill>
              </a:rPr>
              <a:t>if (!</a:t>
            </a:r>
            <a:r>
              <a:rPr lang="fr-FR" b="1" dirty="0" err="1">
                <a:solidFill>
                  <a:schemeClr val="tx2">
                    <a:lumMod val="50000"/>
                    <a:lumOff val="50000"/>
                  </a:schemeClr>
                </a:solidFill>
              </a:rPr>
              <a:t>mnemonics.contains</a:t>
            </a:r>
            <a:r>
              <a:rPr lang="fr-FR" b="1" dirty="0">
                <a:solidFill>
                  <a:schemeClr val="tx2">
                    <a:lumMod val="50000"/>
                    <a:lumOff val="50000"/>
                  </a:schemeClr>
                </a:solidFill>
              </a:rPr>
              <a:t>(</a:t>
            </a:r>
            <a:r>
              <a:rPr lang="fr-FR" b="1" dirty="0" err="1">
                <a:solidFill>
                  <a:schemeClr val="tx2">
                    <a:lumMod val="50000"/>
                    <a:lumOff val="50000"/>
                  </a:schemeClr>
                </a:solidFill>
              </a:rPr>
              <a:t>mnemonic</a:t>
            </a:r>
            <a:r>
              <a:rPr lang="fr-FR" b="1" dirty="0">
                <a:solidFill>
                  <a:schemeClr val="tx2">
                    <a:lumMod val="50000"/>
                    <a:lumOff val="50000"/>
                  </a:schemeClr>
                </a:solidFill>
              </a:rPr>
              <a:t>)) { /* erreur */ }</a:t>
            </a:r>
          </a:p>
          <a:p>
            <a:r>
              <a:rPr lang="fr-FR" sz="1800" dirty="0"/>
              <a:t>Vérifie le nombre d’opérandes : une instruction </a:t>
            </a:r>
            <a:r>
              <a:rPr lang="fr-FR" dirty="0"/>
              <a:t>LDA</a:t>
            </a:r>
            <a:r>
              <a:rPr lang="fr-FR" sz="1800" dirty="0"/>
              <a:t> doit avoir exactement 1 opérande.</a:t>
            </a:r>
          </a:p>
          <a:p>
            <a:r>
              <a:rPr lang="fr-FR" sz="1800" dirty="0"/>
              <a:t>Vérifie le </a:t>
            </a:r>
            <a:r>
              <a:rPr lang="fr-FR" sz="1800" b="1" dirty="0"/>
              <a:t>format</a:t>
            </a:r>
            <a:r>
              <a:rPr lang="fr-FR" sz="1800" dirty="0"/>
              <a:t> de l’opérande (</a:t>
            </a:r>
            <a:r>
              <a:rPr lang="fr-FR" dirty="0"/>
              <a:t>#</a:t>
            </a:r>
            <a:r>
              <a:rPr lang="fr-FR" sz="1800" dirty="0"/>
              <a:t> pour immédiat, </a:t>
            </a:r>
            <a:r>
              <a:rPr lang="fr-FR" dirty="0"/>
              <a:t>$</a:t>
            </a:r>
            <a:r>
              <a:rPr lang="fr-FR" sz="1800" dirty="0"/>
              <a:t> pour direct, </a:t>
            </a:r>
            <a:r>
              <a:rPr lang="fr-FR" dirty="0"/>
              <a:t>,X</a:t>
            </a:r>
            <a:r>
              <a:rPr lang="fr-FR" sz="1800" dirty="0"/>
              <a:t> pour indexé).</a:t>
            </a:r>
          </a:p>
          <a:p>
            <a:endParaRPr lang="fr-MA" sz="1800" b="1" u="sng" dirty="0">
              <a:highlight>
                <a:srgbClr val="FFFF00"/>
              </a:highlight>
            </a:endParaRPr>
          </a:p>
        </p:txBody>
      </p:sp>
      <p:sp>
        <p:nvSpPr>
          <p:cNvPr id="6" name="Rectangle 5">
            <a:extLst>
              <a:ext uri="{FF2B5EF4-FFF2-40B4-BE49-F238E27FC236}">
                <a16:creationId xmlns:a16="http://schemas.microsoft.com/office/drawing/2014/main" id="{4F51F818-8011-B100-DD82-3216755052A5}"/>
              </a:ext>
            </a:extLst>
          </p:cNvPr>
          <p:cNvSpPr/>
          <p:nvPr/>
        </p:nvSpPr>
        <p:spPr>
          <a:xfrm>
            <a:off x="839788" y="2057400"/>
            <a:ext cx="4603069" cy="36576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7" name="Rectangle 6">
            <a:extLst>
              <a:ext uri="{FF2B5EF4-FFF2-40B4-BE49-F238E27FC236}">
                <a16:creationId xmlns:a16="http://schemas.microsoft.com/office/drawing/2014/main" id="{9576ABBE-A6DC-622F-6A1D-4B9F636DF253}"/>
              </a:ext>
            </a:extLst>
          </p:cNvPr>
          <p:cNvSpPr/>
          <p:nvPr/>
        </p:nvSpPr>
        <p:spPr>
          <a:xfrm>
            <a:off x="5519057" y="2057400"/>
            <a:ext cx="5212671" cy="36576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Tree>
    <p:extLst>
      <p:ext uri="{BB962C8B-B14F-4D97-AF65-F5344CB8AC3E}">
        <p14:creationId xmlns:p14="http://schemas.microsoft.com/office/powerpoint/2010/main" val="1339953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94AC8F1E-A971-D9C9-826E-4291F651D561}"/>
              </a:ext>
            </a:extLst>
          </p:cNvPr>
          <p:cNvSpPr>
            <a:spLocks noGrp="1"/>
          </p:cNvSpPr>
          <p:nvPr>
            <p:ph type="body" sz="half" idx="2"/>
          </p:nvPr>
        </p:nvSpPr>
        <p:spPr>
          <a:xfrm>
            <a:off x="681944" y="985155"/>
            <a:ext cx="5201784" cy="4615543"/>
          </a:xfrm>
        </p:spPr>
        <p:txBody>
          <a:bodyPr>
            <a:normAutofit fontScale="92500"/>
          </a:bodyPr>
          <a:lstStyle/>
          <a:p>
            <a:pPr marL="285750" indent="-285750">
              <a:buFont typeface="Arial" panose="020B0604020202020204" pitchFamily="34" charset="0"/>
              <a:buChar char="•"/>
            </a:pPr>
            <a:r>
              <a:rPr lang="fr-MA" sz="2400" b="1" u="sng" dirty="0">
                <a:highlight>
                  <a:srgbClr val="FFFF00"/>
                </a:highlight>
              </a:rPr>
              <a:t>Analyse sémantique</a:t>
            </a:r>
            <a:r>
              <a:rPr lang="en-BE" sz="2400" b="1" u="sng" dirty="0">
                <a:highlight>
                  <a:srgbClr val="FFFF00"/>
                </a:highlight>
              </a:rPr>
              <a:t> :</a:t>
            </a:r>
          </a:p>
          <a:p>
            <a:r>
              <a:rPr lang="en-BE" sz="2400" b="1" dirty="0"/>
              <a:t>But : </a:t>
            </a:r>
            <a:r>
              <a:rPr lang="fr-FR" sz="2400" dirty="0"/>
              <a:t>Vérifier la cohérence et la </a:t>
            </a:r>
            <a:r>
              <a:rPr lang="en-BE" sz="2400" dirty="0"/>
              <a:t>  </a:t>
            </a:r>
            <a:r>
              <a:rPr lang="fr-FR" sz="2400" dirty="0"/>
              <a:t>validité des valeurs</a:t>
            </a:r>
            <a:r>
              <a:rPr lang="en-BE" sz="2400" dirty="0"/>
              <a:t> .</a:t>
            </a:r>
          </a:p>
          <a:p>
            <a:r>
              <a:rPr lang="fr-FR" sz="2400" dirty="0"/>
              <a:t>Vérifie que l’adresse directe tient sur </a:t>
            </a:r>
            <a:r>
              <a:rPr lang="fr-FR" sz="2400" b="1" dirty="0"/>
              <a:t>8 bits</a:t>
            </a:r>
            <a:r>
              <a:rPr lang="fr-FR" sz="2400" dirty="0"/>
              <a:t> :</a:t>
            </a:r>
          </a:p>
          <a:p>
            <a:r>
              <a:rPr lang="fr-FR" sz="2000" b="1" dirty="0">
                <a:solidFill>
                  <a:schemeClr val="tx2">
                    <a:lumMod val="50000"/>
                    <a:lumOff val="50000"/>
                  </a:schemeClr>
                </a:solidFill>
              </a:rPr>
              <a:t>if (val &gt; 0xFF) { </a:t>
            </a:r>
            <a:r>
              <a:rPr lang="fr-FR" sz="2000" b="1" dirty="0" err="1">
                <a:solidFill>
                  <a:schemeClr val="tx2">
                    <a:lumMod val="50000"/>
                    <a:lumOff val="50000"/>
                  </a:schemeClr>
                </a:solidFill>
              </a:rPr>
              <a:t>System.out.println</a:t>
            </a:r>
            <a:r>
              <a:rPr lang="fr-FR" sz="2000" b="1" dirty="0">
                <a:solidFill>
                  <a:schemeClr val="tx2">
                    <a:lumMod val="50000"/>
                    <a:lumOff val="50000"/>
                  </a:schemeClr>
                </a:solidFill>
              </a:rPr>
              <a:t>("ERREUR: adresse trop grande"); }</a:t>
            </a:r>
          </a:p>
          <a:p>
            <a:r>
              <a:rPr lang="fr-FR" sz="2400" dirty="0"/>
              <a:t>Vérifie qu’une instruction immédiate ne dépasse pas </a:t>
            </a:r>
            <a:r>
              <a:rPr lang="fr-FR" sz="2400" b="1" dirty="0"/>
              <a:t>la taille autorisée </a:t>
            </a:r>
            <a:r>
              <a:rPr lang="fr-FR" sz="2400" dirty="0"/>
              <a:t>(8 ou 16 bits selon l’instruction).</a:t>
            </a:r>
          </a:p>
          <a:p>
            <a:r>
              <a:rPr lang="fr-FR" sz="2400" dirty="0"/>
              <a:t>Vérifie que le registre utilisé pour indexé ou accumulateur est valide </a:t>
            </a:r>
            <a:r>
              <a:rPr lang="fr-FR" sz="2400" b="1" dirty="0"/>
              <a:t>(</a:t>
            </a:r>
            <a:r>
              <a:rPr lang="fr-FR" b="1" dirty="0"/>
              <a:t>A</a:t>
            </a:r>
            <a:r>
              <a:rPr lang="fr-FR" sz="2400" b="1" dirty="0"/>
              <a:t>, </a:t>
            </a:r>
            <a:r>
              <a:rPr lang="fr-FR" b="1" dirty="0"/>
              <a:t>B</a:t>
            </a:r>
            <a:r>
              <a:rPr lang="fr-FR" sz="2400" b="1" dirty="0"/>
              <a:t>, </a:t>
            </a:r>
            <a:r>
              <a:rPr lang="fr-FR" b="1" dirty="0"/>
              <a:t>D</a:t>
            </a:r>
            <a:r>
              <a:rPr lang="fr-FR" sz="2400" b="1" dirty="0"/>
              <a:t>, </a:t>
            </a:r>
            <a:r>
              <a:rPr lang="fr-FR" b="1" dirty="0"/>
              <a:t>X</a:t>
            </a:r>
            <a:r>
              <a:rPr lang="fr-FR" sz="2400" b="1" dirty="0"/>
              <a:t>, </a:t>
            </a:r>
            <a:r>
              <a:rPr lang="fr-FR" b="1" dirty="0"/>
              <a:t>Y</a:t>
            </a:r>
            <a:r>
              <a:rPr lang="fr-FR" sz="2400" b="1" dirty="0"/>
              <a:t>, </a:t>
            </a:r>
            <a:r>
              <a:rPr lang="fr-FR" b="1" dirty="0"/>
              <a:t>S</a:t>
            </a:r>
            <a:r>
              <a:rPr lang="fr-FR" sz="2400" b="1" dirty="0"/>
              <a:t>, </a:t>
            </a:r>
            <a:r>
              <a:rPr lang="fr-FR" b="1" dirty="0"/>
              <a:t>U</a:t>
            </a:r>
            <a:r>
              <a:rPr lang="fr-FR" sz="2400" b="1" dirty="0"/>
              <a:t>).</a:t>
            </a:r>
          </a:p>
          <a:p>
            <a:endParaRPr lang="fr-MA" sz="2400" b="1" u="sng" dirty="0">
              <a:highlight>
                <a:srgbClr val="FFFF00"/>
              </a:highlight>
            </a:endParaRPr>
          </a:p>
        </p:txBody>
      </p:sp>
      <p:sp>
        <p:nvSpPr>
          <p:cNvPr id="5" name="Espace réservé du texte 3">
            <a:extLst>
              <a:ext uri="{FF2B5EF4-FFF2-40B4-BE49-F238E27FC236}">
                <a16:creationId xmlns:a16="http://schemas.microsoft.com/office/drawing/2014/main" id="{EBF0F09F-C61B-EFFD-6B18-011EAA4776CA}"/>
              </a:ext>
            </a:extLst>
          </p:cNvPr>
          <p:cNvSpPr txBox="1">
            <a:spLocks/>
          </p:cNvSpPr>
          <p:nvPr/>
        </p:nvSpPr>
        <p:spPr>
          <a:xfrm>
            <a:off x="6096000" y="1132113"/>
            <a:ext cx="5201784" cy="4615543"/>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457200" indent="-457200">
              <a:buFont typeface="Arial" panose="020B0604020202020204" pitchFamily="34" charset="0"/>
              <a:buChar char="•"/>
            </a:pPr>
            <a:r>
              <a:rPr lang="fr-FR" sz="2600" b="1" dirty="0">
                <a:highlight>
                  <a:srgbClr val="FFFF00"/>
                </a:highlight>
              </a:rPr>
              <a:t>Génération de code intermédiaire</a:t>
            </a:r>
            <a:r>
              <a:rPr lang="en-BE" sz="2600" b="1" dirty="0">
                <a:highlight>
                  <a:srgbClr val="FFFF00"/>
                </a:highlight>
              </a:rPr>
              <a:t> :</a:t>
            </a:r>
            <a:endParaRPr lang="fr-FR" sz="2600" b="1" dirty="0">
              <a:highlight>
                <a:srgbClr val="FFFF00"/>
              </a:highlight>
            </a:endParaRPr>
          </a:p>
          <a:p>
            <a:r>
              <a:rPr lang="fr-FR" sz="2400" b="1" dirty="0"/>
              <a:t>But :</a:t>
            </a:r>
            <a:r>
              <a:rPr lang="fr-FR" sz="2400" dirty="0"/>
              <a:t> Produire un code indépendant de la machine cible.</a:t>
            </a:r>
          </a:p>
          <a:p>
            <a:r>
              <a:rPr lang="fr-FR" sz="2400" b="1" dirty="0"/>
              <a:t>Dans ton code :</a:t>
            </a:r>
            <a:endParaRPr lang="fr-FR" sz="2400" dirty="0"/>
          </a:p>
          <a:p>
            <a:r>
              <a:rPr lang="fr-FR" sz="2400" dirty="0"/>
              <a:t>Ce n’est pas strictement séparé, mais la partie qui calcule </a:t>
            </a:r>
            <a:r>
              <a:rPr lang="fr-FR" sz="2400" b="1" dirty="0"/>
              <a:t>val et </a:t>
            </a:r>
            <a:r>
              <a:rPr lang="fr-FR" sz="2100" b="1" dirty="0"/>
              <a:t>mode</a:t>
            </a:r>
            <a:r>
              <a:rPr lang="fr-FR" sz="2400" dirty="0"/>
              <a:t> peut être vue comme du code intermédiaire :</a:t>
            </a:r>
          </a:p>
          <a:p>
            <a:r>
              <a:rPr lang="fr-FR" sz="2200" b="1" dirty="0" err="1">
                <a:solidFill>
                  <a:schemeClr val="tx2">
                    <a:lumMod val="50000"/>
                    <a:lumOff val="50000"/>
                  </a:schemeClr>
                </a:solidFill>
              </a:rPr>
              <a:t>ModeAdressage</a:t>
            </a:r>
            <a:r>
              <a:rPr lang="fr-FR" sz="2200" b="1" dirty="0">
                <a:solidFill>
                  <a:schemeClr val="tx2">
                    <a:lumMod val="50000"/>
                    <a:lumOff val="50000"/>
                  </a:schemeClr>
                </a:solidFill>
              </a:rPr>
              <a:t> mode;</a:t>
            </a:r>
          </a:p>
          <a:p>
            <a:r>
              <a:rPr lang="fr-FR" sz="2200" b="1" dirty="0" err="1">
                <a:solidFill>
                  <a:schemeClr val="tx2">
                    <a:lumMod val="50000"/>
                    <a:lumOff val="50000"/>
                  </a:schemeClr>
                </a:solidFill>
              </a:rPr>
              <a:t>int</a:t>
            </a:r>
            <a:r>
              <a:rPr lang="fr-FR" sz="2200" b="1" dirty="0">
                <a:solidFill>
                  <a:schemeClr val="tx2">
                    <a:lumMod val="50000"/>
                    <a:lumOff val="50000"/>
                  </a:schemeClr>
                </a:solidFill>
              </a:rPr>
              <a:t> val = 0;</a:t>
            </a:r>
          </a:p>
          <a:p>
            <a:r>
              <a:rPr lang="fr-FR" sz="2200" b="1" dirty="0">
                <a:solidFill>
                  <a:schemeClr val="tx2">
                    <a:lumMod val="50000"/>
                    <a:lumOff val="50000"/>
                  </a:schemeClr>
                </a:solidFill>
              </a:rPr>
              <a:t>Registre </a:t>
            </a:r>
            <a:r>
              <a:rPr lang="fr-FR" sz="2200" b="1" dirty="0" err="1">
                <a:solidFill>
                  <a:schemeClr val="tx2">
                    <a:lumMod val="50000"/>
                    <a:lumOff val="50000"/>
                  </a:schemeClr>
                </a:solidFill>
              </a:rPr>
              <a:t>indexReg</a:t>
            </a:r>
            <a:r>
              <a:rPr lang="fr-FR" sz="2200" b="1" dirty="0">
                <a:solidFill>
                  <a:schemeClr val="tx2">
                    <a:lumMod val="50000"/>
                    <a:lumOff val="50000"/>
                  </a:schemeClr>
                </a:solidFill>
              </a:rPr>
              <a:t> = </a:t>
            </a:r>
            <a:r>
              <a:rPr lang="fr-FR" sz="2200" b="1" dirty="0" err="1">
                <a:solidFill>
                  <a:schemeClr val="tx2">
                    <a:lumMod val="50000"/>
                    <a:lumOff val="50000"/>
                  </a:schemeClr>
                </a:solidFill>
              </a:rPr>
              <a:t>Registre.X</a:t>
            </a:r>
            <a:r>
              <a:rPr lang="fr-FR" sz="2200" b="1" dirty="0">
                <a:solidFill>
                  <a:schemeClr val="tx2">
                    <a:lumMod val="50000"/>
                    <a:lumOff val="50000"/>
                  </a:schemeClr>
                </a:solidFill>
              </a:rPr>
              <a:t>, </a:t>
            </a:r>
            <a:r>
              <a:rPr lang="fr-FR" sz="2200" b="1" dirty="0" err="1">
                <a:solidFill>
                  <a:schemeClr val="tx2">
                    <a:lumMod val="50000"/>
                    <a:lumOff val="50000"/>
                  </a:schemeClr>
                </a:solidFill>
              </a:rPr>
              <a:t>regDisp</a:t>
            </a:r>
            <a:r>
              <a:rPr lang="fr-FR" sz="2200" b="1" dirty="0">
                <a:solidFill>
                  <a:schemeClr val="tx2">
                    <a:lumMod val="50000"/>
                    <a:lumOff val="50000"/>
                  </a:schemeClr>
                </a:solidFill>
              </a:rPr>
              <a:t> = </a:t>
            </a:r>
            <a:r>
              <a:rPr lang="fr-FR" sz="2200" b="1" dirty="0" err="1">
                <a:solidFill>
                  <a:schemeClr val="tx2">
                    <a:lumMod val="50000"/>
                    <a:lumOff val="50000"/>
                  </a:schemeClr>
                </a:solidFill>
              </a:rPr>
              <a:t>null</a:t>
            </a:r>
            <a:r>
              <a:rPr lang="fr-FR" sz="2200" b="1" dirty="0">
                <a:solidFill>
                  <a:schemeClr val="tx2">
                    <a:lumMod val="50000"/>
                    <a:lumOff val="50000"/>
                  </a:schemeClr>
                </a:solidFill>
              </a:rPr>
              <a:t>;</a:t>
            </a:r>
          </a:p>
          <a:p>
            <a:r>
              <a:rPr lang="fr-FR" sz="2400" dirty="0"/>
              <a:t>À ce stade, on sait </a:t>
            </a:r>
            <a:r>
              <a:rPr lang="fr-FR" sz="2400" b="1" dirty="0"/>
              <a:t>ce que l’instruction doit faire</a:t>
            </a:r>
            <a:r>
              <a:rPr lang="fr-FR" sz="2400" dirty="0"/>
              <a:t> et </a:t>
            </a:r>
            <a:r>
              <a:rPr lang="fr-FR" sz="2400" b="1" dirty="0"/>
              <a:t>quelle valeur/registre elle utilise</a:t>
            </a:r>
            <a:r>
              <a:rPr lang="fr-FR" sz="2400" dirty="0"/>
              <a:t> avant de passer à la génération machine.</a:t>
            </a:r>
          </a:p>
          <a:p>
            <a:endParaRPr lang="fr-MA" sz="2400" b="1" u="sng" dirty="0">
              <a:highlight>
                <a:srgbClr val="FFFF00"/>
              </a:highlight>
            </a:endParaRPr>
          </a:p>
        </p:txBody>
      </p:sp>
      <p:sp>
        <p:nvSpPr>
          <p:cNvPr id="6" name="Rectangle 5">
            <a:extLst>
              <a:ext uri="{FF2B5EF4-FFF2-40B4-BE49-F238E27FC236}">
                <a16:creationId xmlns:a16="http://schemas.microsoft.com/office/drawing/2014/main" id="{36D80C36-B8A3-1DE8-6383-A79949B50D4B}"/>
              </a:ext>
            </a:extLst>
          </p:cNvPr>
          <p:cNvSpPr/>
          <p:nvPr/>
        </p:nvSpPr>
        <p:spPr>
          <a:xfrm>
            <a:off x="622073" y="838199"/>
            <a:ext cx="5321526" cy="49094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7" name="Rectangle 6">
            <a:extLst>
              <a:ext uri="{FF2B5EF4-FFF2-40B4-BE49-F238E27FC236}">
                <a16:creationId xmlns:a16="http://schemas.microsoft.com/office/drawing/2014/main" id="{E5656E06-6BE9-AA1B-2F49-E9A965200273}"/>
              </a:ext>
            </a:extLst>
          </p:cNvPr>
          <p:cNvSpPr/>
          <p:nvPr/>
        </p:nvSpPr>
        <p:spPr>
          <a:xfrm>
            <a:off x="6096000" y="816430"/>
            <a:ext cx="5321526" cy="49094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Tree>
    <p:extLst>
      <p:ext uri="{BB962C8B-B14F-4D97-AF65-F5344CB8AC3E}">
        <p14:creationId xmlns:p14="http://schemas.microsoft.com/office/powerpoint/2010/main" val="549712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BB561B2A-70A5-E741-D573-C375C65AAA52}"/>
              </a:ext>
            </a:extLst>
          </p:cNvPr>
          <p:cNvSpPr>
            <a:spLocks noGrp="1"/>
          </p:cNvSpPr>
          <p:nvPr>
            <p:ph type="body" sz="half" idx="2"/>
          </p:nvPr>
        </p:nvSpPr>
        <p:spPr>
          <a:xfrm>
            <a:off x="1741713" y="1611086"/>
            <a:ext cx="5214257" cy="4388530"/>
          </a:xfrm>
        </p:spPr>
        <p:txBody>
          <a:bodyPr>
            <a:normAutofit fontScale="92500" lnSpcReduction="10000"/>
          </a:bodyPr>
          <a:lstStyle/>
          <a:p>
            <a:pPr marL="285750" indent="-285750">
              <a:buFont typeface="Arial" panose="020B0604020202020204" pitchFamily="34" charset="0"/>
              <a:buChar char="•"/>
            </a:pPr>
            <a:r>
              <a:rPr lang="fr-MA" sz="1900" b="1" dirty="0">
                <a:highlight>
                  <a:srgbClr val="FFFF00"/>
                </a:highlight>
              </a:rPr>
              <a:t>Génération de code machine</a:t>
            </a:r>
          </a:p>
          <a:p>
            <a:r>
              <a:rPr lang="fr-MA" b="1" dirty="0"/>
              <a:t>But :</a:t>
            </a:r>
            <a:r>
              <a:rPr lang="fr-MA" dirty="0"/>
              <a:t> Transformer l’instruction en </a:t>
            </a:r>
            <a:r>
              <a:rPr lang="fr-MA" b="1" dirty="0"/>
              <a:t>octets dans la mémoire</a:t>
            </a:r>
            <a:r>
              <a:rPr lang="fr-MA" dirty="0"/>
              <a:t>.</a:t>
            </a:r>
          </a:p>
          <a:p>
            <a:r>
              <a:rPr lang="fr-MA" b="1" dirty="0"/>
              <a:t>Exemple dans ton code :</a:t>
            </a:r>
            <a:endParaRPr lang="fr-MA" dirty="0"/>
          </a:p>
          <a:p>
            <a:r>
              <a:rPr lang="fr-MA" dirty="0"/>
              <a:t>Ton code écrit directement les </a:t>
            </a:r>
            <a:r>
              <a:rPr lang="fr-MA" b="1" dirty="0"/>
              <a:t>opcodes et opérandes en mémoire</a:t>
            </a:r>
            <a:r>
              <a:rPr lang="fr-MA" dirty="0"/>
              <a:t> :</a:t>
            </a:r>
          </a:p>
          <a:p>
            <a:r>
              <a:rPr lang="fr-MA" b="1" dirty="0">
                <a:solidFill>
                  <a:schemeClr val="tx2">
                    <a:lumMod val="50000"/>
                    <a:lumOff val="50000"/>
                  </a:schemeClr>
                </a:solidFill>
              </a:rPr>
              <a:t>// Écriture de l'opcode</a:t>
            </a:r>
          </a:p>
          <a:p>
            <a:r>
              <a:rPr lang="fr-MA" b="1" dirty="0">
                <a:solidFill>
                  <a:schemeClr val="tx2">
                    <a:lumMod val="50000"/>
                    <a:lumOff val="50000"/>
                  </a:schemeClr>
                </a:solidFill>
              </a:rPr>
              <a:t>if (opcode &gt; 0xFF) { ... } </a:t>
            </a:r>
            <a:r>
              <a:rPr lang="fr-MA" b="1" dirty="0" err="1">
                <a:solidFill>
                  <a:schemeClr val="tx2">
                    <a:lumMod val="50000"/>
                    <a:lumOff val="50000"/>
                  </a:schemeClr>
                </a:solidFill>
              </a:rPr>
              <a:t>else</a:t>
            </a:r>
            <a:r>
              <a:rPr lang="fr-MA" b="1" dirty="0">
                <a:solidFill>
                  <a:schemeClr val="tx2">
                    <a:lumMod val="50000"/>
                    <a:lumOff val="50000"/>
                  </a:schemeClr>
                </a:solidFill>
              </a:rPr>
              <a:t> { </a:t>
            </a:r>
            <a:r>
              <a:rPr lang="fr-MA" b="1" dirty="0" err="1">
                <a:solidFill>
                  <a:schemeClr val="tx2">
                    <a:lumMod val="50000"/>
                    <a:lumOff val="50000"/>
                  </a:schemeClr>
                </a:solidFill>
              </a:rPr>
              <a:t>memoire.ecrire</a:t>
            </a:r>
            <a:r>
              <a:rPr lang="fr-MA" b="1" dirty="0">
                <a:solidFill>
                  <a:schemeClr val="tx2">
                    <a:lumMod val="50000"/>
                    <a:lumOff val="50000"/>
                  </a:schemeClr>
                </a:solidFill>
              </a:rPr>
              <a:t>(pc, opcode); pc++; }</a:t>
            </a:r>
          </a:p>
          <a:p>
            <a:endParaRPr lang="fr-MA" b="1" dirty="0">
              <a:solidFill>
                <a:schemeClr val="tx2">
                  <a:lumMod val="50000"/>
                  <a:lumOff val="50000"/>
                </a:schemeClr>
              </a:solidFill>
            </a:endParaRPr>
          </a:p>
          <a:p>
            <a:r>
              <a:rPr lang="fr-MA" b="1" dirty="0">
                <a:solidFill>
                  <a:schemeClr val="tx2">
                    <a:lumMod val="50000"/>
                    <a:lumOff val="50000"/>
                  </a:schemeClr>
                </a:solidFill>
              </a:rPr>
              <a:t>// Écriture de l'opérande selon le mode</a:t>
            </a:r>
          </a:p>
          <a:p>
            <a:r>
              <a:rPr lang="fr-MA" b="1" dirty="0">
                <a:solidFill>
                  <a:schemeClr val="tx2">
                    <a:lumMod val="50000"/>
                    <a:lumOff val="50000"/>
                  </a:schemeClr>
                </a:solidFill>
              </a:rPr>
              <a:t>if (mode == </a:t>
            </a:r>
            <a:r>
              <a:rPr lang="fr-MA" b="1" dirty="0" err="1">
                <a:solidFill>
                  <a:schemeClr val="tx2">
                    <a:lumMod val="50000"/>
                    <a:lumOff val="50000"/>
                  </a:schemeClr>
                </a:solidFill>
              </a:rPr>
              <a:t>ModeAdressage.Direct</a:t>
            </a:r>
            <a:r>
              <a:rPr lang="fr-MA" b="1" dirty="0">
                <a:solidFill>
                  <a:schemeClr val="tx2">
                    <a:lumMod val="50000"/>
                    <a:lumOff val="50000"/>
                  </a:schemeClr>
                </a:solidFill>
              </a:rPr>
              <a:t>) { ... } </a:t>
            </a:r>
          </a:p>
          <a:p>
            <a:r>
              <a:rPr lang="fr-MA" b="1" dirty="0" err="1">
                <a:solidFill>
                  <a:schemeClr val="tx2">
                    <a:lumMod val="50000"/>
                    <a:lumOff val="50000"/>
                  </a:schemeClr>
                </a:solidFill>
              </a:rPr>
              <a:t>else</a:t>
            </a:r>
            <a:r>
              <a:rPr lang="fr-MA" b="1" dirty="0">
                <a:solidFill>
                  <a:schemeClr val="tx2">
                    <a:lumMod val="50000"/>
                    <a:lumOff val="50000"/>
                  </a:schemeClr>
                </a:solidFill>
              </a:rPr>
              <a:t> if (mode == </a:t>
            </a:r>
            <a:r>
              <a:rPr lang="fr-MA" b="1" dirty="0" err="1">
                <a:solidFill>
                  <a:schemeClr val="tx2">
                    <a:lumMod val="50000"/>
                    <a:lumOff val="50000"/>
                  </a:schemeClr>
                </a:solidFill>
              </a:rPr>
              <a:t>ModeAdressage.Immediat</a:t>
            </a:r>
            <a:r>
              <a:rPr lang="fr-MA" b="1" dirty="0">
                <a:solidFill>
                  <a:schemeClr val="tx2">
                    <a:lumMod val="50000"/>
                    <a:lumOff val="50000"/>
                  </a:schemeClr>
                </a:solidFill>
              </a:rPr>
              <a:t>) { ... } </a:t>
            </a:r>
          </a:p>
          <a:p>
            <a:r>
              <a:rPr lang="fr-MA" b="1" dirty="0" err="1">
                <a:solidFill>
                  <a:schemeClr val="tx2">
                    <a:lumMod val="50000"/>
                    <a:lumOff val="50000"/>
                  </a:schemeClr>
                </a:solidFill>
              </a:rPr>
              <a:t>else</a:t>
            </a:r>
            <a:r>
              <a:rPr lang="fr-MA" b="1" dirty="0">
                <a:solidFill>
                  <a:schemeClr val="tx2">
                    <a:lumMod val="50000"/>
                    <a:lumOff val="50000"/>
                  </a:schemeClr>
                </a:solidFill>
              </a:rPr>
              <a:t> if (mode == </a:t>
            </a:r>
            <a:r>
              <a:rPr lang="fr-MA" b="1" dirty="0" err="1">
                <a:solidFill>
                  <a:schemeClr val="tx2">
                    <a:lumMod val="50000"/>
                    <a:lumOff val="50000"/>
                  </a:schemeClr>
                </a:solidFill>
              </a:rPr>
              <a:t>ModeAdressage.Indexe</a:t>
            </a:r>
            <a:r>
              <a:rPr lang="fr-MA" b="1" dirty="0">
                <a:solidFill>
                  <a:schemeClr val="tx2">
                    <a:lumMod val="50000"/>
                    <a:lumOff val="50000"/>
                  </a:schemeClr>
                </a:solidFill>
              </a:rPr>
              <a:t>) { ... }</a:t>
            </a:r>
          </a:p>
          <a:p>
            <a:r>
              <a:rPr lang="fr-MA" sz="1700" b="1" dirty="0"/>
              <a:t>Exemple concret :</a:t>
            </a:r>
          </a:p>
          <a:p>
            <a:pPr lvl="1"/>
            <a:r>
              <a:rPr lang="fr-MA" sz="1500" dirty="0"/>
              <a:t>LDA $02 → opcode 0x96 + octet $02 → mémoire = 96 02</a:t>
            </a:r>
          </a:p>
          <a:p>
            <a:endParaRPr lang="fr-MA" dirty="0"/>
          </a:p>
        </p:txBody>
      </p:sp>
      <p:sp>
        <p:nvSpPr>
          <p:cNvPr id="5" name="Rectangle 4">
            <a:extLst>
              <a:ext uri="{FF2B5EF4-FFF2-40B4-BE49-F238E27FC236}">
                <a16:creationId xmlns:a16="http://schemas.microsoft.com/office/drawing/2014/main" id="{C2C44696-B66B-85B7-40E2-7960D468FD71}"/>
              </a:ext>
            </a:extLst>
          </p:cNvPr>
          <p:cNvSpPr/>
          <p:nvPr/>
        </p:nvSpPr>
        <p:spPr>
          <a:xfrm>
            <a:off x="1622763" y="1328850"/>
            <a:ext cx="5495697" cy="482237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Tree>
    <p:extLst>
      <p:ext uri="{BB962C8B-B14F-4D97-AF65-F5344CB8AC3E}">
        <p14:creationId xmlns:p14="http://schemas.microsoft.com/office/powerpoint/2010/main" val="2925935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6F940-E9A4-7330-B056-6308F0A14109}"/>
              </a:ext>
            </a:extLst>
          </p:cNvPr>
          <p:cNvSpPr>
            <a:spLocks noGrp="1"/>
          </p:cNvSpPr>
          <p:nvPr>
            <p:ph type="title"/>
          </p:nvPr>
        </p:nvSpPr>
        <p:spPr>
          <a:xfrm>
            <a:off x="839787" y="0"/>
            <a:ext cx="3932237" cy="1600200"/>
          </a:xfrm>
        </p:spPr>
        <p:txBody>
          <a:bodyPr>
            <a:normAutofit/>
          </a:bodyPr>
          <a:lstStyle/>
          <a:p>
            <a:r>
              <a:rPr lang="en-BE" sz="4400" b="1" u="sng" dirty="0">
                <a:solidFill>
                  <a:srgbClr val="FF0000"/>
                </a:solidFill>
              </a:rPr>
              <a:t>LES ERREURS :</a:t>
            </a:r>
            <a:endParaRPr lang="fr-MA" sz="4400" b="1" u="sng" dirty="0">
              <a:solidFill>
                <a:srgbClr val="FF0000"/>
              </a:solidFill>
            </a:endParaRPr>
          </a:p>
        </p:txBody>
      </p:sp>
      <p:sp>
        <p:nvSpPr>
          <p:cNvPr id="4" name="Espace réservé du texte 3">
            <a:extLst>
              <a:ext uri="{FF2B5EF4-FFF2-40B4-BE49-F238E27FC236}">
                <a16:creationId xmlns:a16="http://schemas.microsoft.com/office/drawing/2014/main" id="{B86FC347-6225-DB8B-BBD5-4FED1F6A5266}"/>
              </a:ext>
            </a:extLst>
          </p:cNvPr>
          <p:cNvSpPr>
            <a:spLocks noGrp="1"/>
          </p:cNvSpPr>
          <p:nvPr>
            <p:ph type="body" sz="half" idx="2"/>
          </p:nvPr>
        </p:nvSpPr>
        <p:spPr>
          <a:xfrm>
            <a:off x="741816" y="1219199"/>
            <a:ext cx="10307183" cy="5366658"/>
          </a:xfrm>
        </p:spPr>
        <p:txBody>
          <a:bodyPr>
            <a:normAutofit fontScale="85000" lnSpcReduction="10000"/>
          </a:bodyPr>
          <a:lstStyle/>
          <a:p>
            <a:pPr marL="285750" indent="-285750">
              <a:buFont typeface="Wingdings" panose="05000000000000000000" pitchFamily="2" charset="2"/>
              <a:buChar char="Ø"/>
            </a:pPr>
            <a:endParaRPr lang="en-BE" sz="2000" dirty="0"/>
          </a:p>
          <a:p>
            <a:pPr marL="342900" indent="-342900">
              <a:buFont typeface="Wingdings" panose="05000000000000000000" pitchFamily="2" charset="2"/>
              <a:buChar char="Ø"/>
            </a:pPr>
            <a:r>
              <a:rPr lang="fr-FR" sz="2000" b="1" dirty="0"/>
              <a:t>Erreur </a:t>
            </a:r>
            <a:r>
              <a:rPr lang="fr-FR" sz="2000" dirty="0"/>
              <a:t>: “la valeur dépasse la taille maximale”</a:t>
            </a:r>
            <a:endParaRPr lang="en-BE" sz="2000" dirty="0"/>
          </a:p>
          <a:p>
            <a:r>
              <a:rPr lang="en-BE" sz="2000" b="1" dirty="0"/>
              <a:t>       </a:t>
            </a:r>
            <a:r>
              <a:rPr lang="fr-FR" sz="2000" b="1" dirty="0"/>
              <a:t>Affichage</a:t>
            </a:r>
            <a:r>
              <a:rPr lang="fr-FR" sz="2000" dirty="0"/>
              <a:t> : </a:t>
            </a:r>
            <a:r>
              <a:rPr lang="fr-FR" sz="2000" dirty="0" err="1"/>
              <a:t>ERREUR:“le</a:t>
            </a:r>
            <a:r>
              <a:rPr lang="fr-FR" sz="2000" dirty="0"/>
              <a:t> programme doit se terminer par END”</a:t>
            </a:r>
            <a:endParaRPr lang="en-BE" sz="2000" dirty="0"/>
          </a:p>
          <a:p>
            <a:r>
              <a:rPr lang="en-BE" sz="1900" b="1" dirty="0"/>
              <a:t>        Explication : </a:t>
            </a:r>
            <a:r>
              <a:rPr lang="fr-FR" sz="1900" dirty="0"/>
              <a:t>L’assembleur attend l’instruction END pour savoir où finit le programme. Sans </a:t>
            </a:r>
            <a:r>
              <a:rPr lang="en-BE" sz="1900" dirty="0"/>
              <a:t>  </a:t>
            </a:r>
            <a:r>
              <a:rPr lang="fr-FR" sz="1900" dirty="0"/>
              <a:t>elle, le </a:t>
            </a:r>
            <a:r>
              <a:rPr lang="en-BE" sz="1900" dirty="0"/>
              <a:t> </a:t>
            </a:r>
            <a:r>
              <a:rPr lang="fr-FR" sz="1900" dirty="0"/>
              <a:t>code n’est pas correctement reconnu et l’assemblage échoue.</a:t>
            </a:r>
          </a:p>
          <a:p>
            <a:endParaRPr lang="fr-FR" sz="2000" dirty="0"/>
          </a:p>
          <a:p>
            <a:pPr marL="342900" indent="-342900">
              <a:buFont typeface="Wingdings" panose="05000000000000000000" pitchFamily="2" charset="2"/>
              <a:buChar char="Ø"/>
            </a:pPr>
            <a:r>
              <a:rPr lang="en-BE" sz="2000" b="1" dirty="0"/>
              <a:t>   </a:t>
            </a:r>
            <a:r>
              <a:rPr lang="fr-FR" sz="2000" b="1" dirty="0"/>
              <a:t>Erreur </a:t>
            </a:r>
            <a:r>
              <a:rPr lang="fr-FR" sz="2000" dirty="0"/>
              <a:t>: “la valeur dépasse la taille max”</a:t>
            </a:r>
            <a:r>
              <a:rPr lang="en-BE" sz="2000" b="1" dirty="0"/>
              <a:t>     </a:t>
            </a:r>
            <a:endParaRPr lang="fr-FR" sz="2000" dirty="0"/>
          </a:p>
          <a:p>
            <a:pPr lvl="1"/>
            <a:r>
              <a:rPr lang="fr-FR" sz="1800" b="1" dirty="0"/>
              <a:t>Affichage</a:t>
            </a:r>
            <a:r>
              <a:rPr lang="fr-FR" sz="1800" dirty="0"/>
              <a:t> : ERREUR: la valeur dépasse la taille maximale (8 bits/16 bits)</a:t>
            </a:r>
            <a:r>
              <a:rPr lang="en-BE" sz="1800" dirty="0"/>
              <a:t> -&gt; </a:t>
            </a:r>
            <a:r>
              <a:rPr lang="en-BE" sz="1800" dirty="0" err="1"/>
              <a:t>valeur</a:t>
            </a:r>
            <a:r>
              <a:rPr lang="en-BE" sz="1800" dirty="0"/>
              <a:t> </a:t>
            </a:r>
            <a:endParaRPr lang="fr-FR" sz="1800" dirty="0"/>
          </a:p>
          <a:p>
            <a:pPr lvl="1"/>
            <a:r>
              <a:rPr lang="fr-FR" sz="1800" b="1" dirty="0"/>
              <a:t>Explication : </a:t>
            </a:r>
            <a:r>
              <a:rPr lang="fr-FR" sz="1800" dirty="0"/>
              <a:t>Cette erreur se produit lorsque la valeur fournie à une instruction dépasse la capacité du registre ciblé.</a:t>
            </a:r>
            <a:endParaRPr lang="en-BE" sz="1800" dirty="0"/>
          </a:p>
          <a:p>
            <a:endParaRPr lang="fr-FR" sz="2000" dirty="0"/>
          </a:p>
          <a:p>
            <a:pPr marL="342900" indent="-342900">
              <a:buFont typeface="Wingdings" panose="05000000000000000000" pitchFamily="2" charset="2"/>
              <a:buChar char="Ø"/>
            </a:pPr>
            <a:r>
              <a:rPr lang="fr-FR" sz="2000" b="1" dirty="0"/>
              <a:t>Affichage :</a:t>
            </a:r>
            <a:r>
              <a:rPr lang="fr-FR" sz="2000" dirty="0"/>
              <a:t> ERREUR: valeur invalide</a:t>
            </a:r>
          </a:p>
          <a:p>
            <a:pPr lvl="1"/>
            <a:r>
              <a:rPr lang="fr-FR" sz="1800" b="1" dirty="0"/>
              <a:t>Explication :</a:t>
            </a:r>
            <a:r>
              <a:rPr lang="fr-FR" sz="1800" dirty="0"/>
              <a:t> Cette erreur apparaît lorsqu’on tente de stocker dans la RAM une valeur qui n’est pas au format  hexadécimale Le MC6809 et le simulateur attendent que toutes les valeurs soient exprimées en hexadécimal</a:t>
            </a:r>
            <a:endParaRPr lang="en-BE" sz="1800" dirty="0"/>
          </a:p>
          <a:p>
            <a:pPr lvl="1"/>
            <a:endParaRPr lang="en-BE" sz="1900" dirty="0"/>
          </a:p>
          <a:p>
            <a:pPr marL="800100" lvl="1" indent="-342900">
              <a:buFont typeface="Wingdings" panose="05000000000000000000" pitchFamily="2" charset="2"/>
              <a:buChar char="Ø"/>
            </a:pPr>
            <a:r>
              <a:rPr lang="en-BE" sz="1900" dirty="0"/>
              <a:t> </a:t>
            </a:r>
            <a:r>
              <a:rPr lang="fr-FR" sz="2200" b="1" dirty="0"/>
              <a:t>Erreur :</a:t>
            </a:r>
            <a:r>
              <a:rPr lang="fr-FR" sz="2600" dirty="0"/>
              <a:t> </a:t>
            </a:r>
            <a:r>
              <a:rPr lang="fr-FR" sz="1900" dirty="0"/>
              <a:t>“valeur invalide pour le registre”</a:t>
            </a:r>
          </a:p>
          <a:p>
            <a:pPr lvl="1"/>
            <a:r>
              <a:rPr lang="fr-FR" sz="2200" b="1" dirty="0"/>
              <a:t>Affichage </a:t>
            </a:r>
            <a:r>
              <a:rPr lang="fr-FR" sz="1900" b="1" dirty="0"/>
              <a:t>: </a:t>
            </a:r>
            <a:r>
              <a:rPr lang="fr-FR" sz="1900" dirty="0"/>
              <a:t>Aucune (le registre conserve sa valeur précédente)</a:t>
            </a:r>
          </a:p>
          <a:p>
            <a:pPr lvl="1"/>
            <a:r>
              <a:rPr lang="fr-FR" sz="1900" b="1" dirty="0"/>
              <a:t>Explication : </a:t>
            </a:r>
            <a:r>
              <a:rPr lang="fr-FR" sz="1900" dirty="0"/>
              <a:t>Cette erreur se produit lorsqu’une valeur saisie dans un registre dépasse sa taille maximale (8 bits ou 16 bits) ou n’est pas en hexadécimal. Le simulateur n’accepte pas la nouvelle valeur et restaure automatiquement l’ancienne valeur du registre.</a:t>
            </a:r>
            <a:endParaRPr lang="fr-MA" sz="1900" dirty="0"/>
          </a:p>
          <a:p>
            <a:pPr lvl="1"/>
            <a:endParaRPr lang="en-BE" sz="1900" dirty="0"/>
          </a:p>
        </p:txBody>
      </p:sp>
    </p:spTree>
    <p:extLst>
      <p:ext uri="{BB962C8B-B14F-4D97-AF65-F5344CB8AC3E}">
        <p14:creationId xmlns:p14="http://schemas.microsoft.com/office/powerpoint/2010/main" val="299828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CBB39E-CCD6-56E4-ECFC-91297603353B}"/>
              </a:ext>
            </a:extLst>
          </p:cNvPr>
          <p:cNvSpPr>
            <a:spLocks noGrp="1"/>
          </p:cNvSpPr>
          <p:nvPr>
            <p:ph type="title"/>
          </p:nvPr>
        </p:nvSpPr>
        <p:spPr/>
        <p:txBody>
          <a:bodyPr>
            <a:normAutofit/>
          </a:bodyPr>
          <a:lstStyle/>
          <a:p>
            <a:r>
              <a:rPr lang="en-BE" sz="6600" b="1" dirty="0"/>
              <a:t>Test :</a:t>
            </a:r>
            <a:endParaRPr lang="fr-MA" sz="6600" b="1" dirty="0"/>
          </a:p>
        </p:txBody>
      </p:sp>
      <p:sp>
        <p:nvSpPr>
          <p:cNvPr id="4" name="Espace réservé du texte 3">
            <a:extLst>
              <a:ext uri="{FF2B5EF4-FFF2-40B4-BE49-F238E27FC236}">
                <a16:creationId xmlns:a16="http://schemas.microsoft.com/office/drawing/2014/main" id="{86D5E21B-AAF9-0367-7863-AB072FC1F8CE}"/>
              </a:ext>
            </a:extLst>
          </p:cNvPr>
          <p:cNvSpPr>
            <a:spLocks noGrp="1"/>
          </p:cNvSpPr>
          <p:nvPr>
            <p:ph type="body" sz="half" idx="2"/>
          </p:nvPr>
        </p:nvSpPr>
        <p:spPr>
          <a:xfrm>
            <a:off x="839789" y="2057400"/>
            <a:ext cx="2208212" cy="3811588"/>
          </a:xfrm>
        </p:spPr>
        <p:txBody>
          <a:bodyPr>
            <a:normAutofit/>
          </a:bodyPr>
          <a:lstStyle/>
          <a:p>
            <a:r>
              <a:rPr lang="it-IT" sz="2400" b="1" dirty="0"/>
              <a:t>LDA $12</a:t>
            </a:r>
          </a:p>
          <a:p>
            <a:r>
              <a:rPr lang="it-IT" sz="2400" b="1" dirty="0"/>
              <a:t>ADCA #$42</a:t>
            </a:r>
          </a:p>
          <a:p>
            <a:r>
              <a:rPr lang="it-IT" sz="2400" b="1" dirty="0"/>
              <a:t>STA $0002</a:t>
            </a:r>
          </a:p>
          <a:p>
            <a:r>
              <a:rPr lang="it-IT" sz="2400" b="1" dirty="0"/>
              <a:t>LDA $12,S</a:t>
            </a:r>
          </a:p>
          <a:p>
            <a:r>
              <a:rPr lang="it-IT" sz="2400" b="1" dirty="0"/>
              <a:t>LD</a:t>
            </a:r>
            <a:r>
              <a:rPr lang="en-BE" sz="2400" b="1" dirty="0"/>
              <a:t>B</a:t>
            </a:r>
            <a:r>
              <a:rPr lang="it-IT" sz="2400" b="1" dirty="0"/>
              <a:t> ,X</a:t>
            </a:r>
          </a:p>
          <a:p>
            <a:r>
              <a:rPr lang="it-IT" sz="2400" b="1" dirty="0"/>
              <a:t>ADDB #$13</a:t>
            </a:r>
          </a:p>
          <a:p>
            <a:r>
              <a:rPr lang="it-IT" sz="2400" b="1" dirty="0"/>
              <a:t>END</a:t>
            </a:r>
            <a:endParaRPr lang="fr-MA" sz="2400" b="1" dirty="0"/>
          </a:p>
        </p:txBody>
      </p:sp>
      <p:sp>
        <p:nvSpPr>
          <p:cNvPr id="5" name="Espace réservé du texte 3">
            <a:extLst>
              <a:ext uri="{FF2B5EF4-FFF2-40B4-BE49-F238E27FC236}">
                <a16:creationId xmlns:a16="http://schemas.microsoft.com/office/drawing/2014/main" id="{F9F863E8-8DEC-FE5B-D9BB-8AF89F8F2886}"/>
              </a:ext>
            </a:extLst>
          </p:cNvPr>
          <p:cNvSpPr txBox="1">
            <a:spLocks/>
          </p:cNvSpPr>
          <p:nvPr/>
        </p:nvSpPr>
        <p:spPr>
          <a:xfrm>
            <a:off x="4529931" y="1948543"/>
            <a:ext cx="2208212" cy="38115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fr-MA" sz="2400" b="1" dirty="0"/>
          </a:p>
        </p:txBody>
      </p:sp>
      <p:sp>
        <p:nvSpPr>
          <p:cNvPr id="6" name="Espace réservé du texte 3">
            <a:extLst>
              <a:ext uri="{FF2B5EF4-FFF2-40B4-BE49-F238E27FC236}">
                <a16:creationId xmlns:a16="http://schemas.microsoft.com/office/drawing/2014/main" id="{F84B2173-793E-F5AA-E9EB-B8712A5A1C0B}"/>
              </a:ext>
            </a:extLst>
          </p:cNvPr>
          <p:cNvSpPr txBox="1">
            <a:spLocks/>
          </p:cNvSpPr>
          <p:nvPr/>
        </p:nvSpPr>
        <p:spPr>
          <a:xfrm>
            <a:off x="4529931" y="2149135"/>
            <a:ext cx="2208212" cy="38115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it-IT" sz="2400" b="1" dirty="0"/>
              <a:t>STA $13</a:t>
            </a:r>
            <a:r>
              <a:rPr lang="en-BE" sz="2400" b="1" dirty="0"/>
              <a:t>462</a:t>
            </a:r>
            <a:endParaRPr lang="it-IT" sz="2400" b="1" dirty="0"/>
          </a:p>
          <a:p>
            <a:r>
              <a:rPr lang="it-IT" sz="2400" b="1" dirty="0"/>
              <a:t>ADDA #$13</a:t>
            </a:r>
          </a:p>
          <a:p>
            <a:r>
              <a:rPr lang="it-IT" sz="2400" b="1" dirty="0"/>
              <a:t>LDA </a:t>
            </a:r>
            <a:r>
              <a:rPr lang="en-BE" sz="2400" b="1" dirty="0"/>
              <a:t>*</a:t>
            </a:r>
            <a:r>
              <a:rPr lang="it-IT" sz="2400" b="1" dirty="0"/>
              <a:t>$1</a:t>
            </a:r>
            <a:r>
              <a:rPr lang="en-BE" sz="2400" b="1" dirty="0"/>
              <a:t>9</a:t>
            </a:r>
            <a:r>
              <a:rPr lang="it-IT" sz="2400" b="1" dirty="0"/>
              <a:t>,PC</a:t>
            </a:r>
          </a:p>
          <a:p>
            <a:r>
              <a:rPr lang="it-IT" sz="2400" b="1" dirty="0"/>
              <a:t>ADDB $10</a:t>
            </a:r>
          </a:p>
          <a:p>
            <a:r>
              <a:rPr lang="it-IT" sz="2400" b="1" dirty="0"/>
              <a:t>ADDD $15</a:t>
            </a:r>
          </a:p>
          <a:p>
            <a:r>
              <a:rPr lang="it-IT" sz="2400" b="1" dirty="0"/>
              <a:t>LDB #$13</a:t>
            </a:r>
          </a:p>
          <a:p>
            <a:r>
              <a:rPr lang="it-IT" sz="2400" b="1" dirty="0"/>
              <a:t>END</a:t>
            </a:r>
            <a:endParaRPr lang="fr-MA" sz="2400" b="1" dirty="0"/>
          </a:p>
        </p:txBody>
      </p:sp>
      <p:sp>
        <p:nvSpPr>
          <p:cNvPr id="8" name="Rectangle 7">
            <a:extLst>
              <a:ext uri="{FF2B5EF4-FFF2-40B4-BE49-F238E27FC236}">
                <a16:creationId xmlns:a16="http://schemas.microsoft.com/office/drawing/2014/main" id="{535B0DEA-0DF0-D546-8B3C-D87F5AEBC498}"/>
              </a:ext>
            </a:extLst>
          </p:cNvPr>
          <p:cNvSpPr/>
          <p:nvPr/>
        </p:nvSpPr>
        <p:spPr>
          <a:xfrm>
            <a:off x="622073" y="2057400"/>
            <a:ext cx="2425928" cy="33636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9" name="Rectangle 8">
            <a:extLst>
              <a:ext uri="{FF2B5EF4-FFF2-40B4-BE49-F238E27FC236}">
                <a16:creationId xmlns:a16="http://schemas.microsoft.com/office/drawing/2014/main" id="{F15AF358-A1CA-DDCB-65B9-FE7C1A137E2F}"/>
              </a:ext>
            </a:extLst>
          </p:cNvPr>
          <p:cNvSpPr/>
          <p:nvPr/>
        </p:nvSpPr>
        <p:spPr>
          <a:xfrm>
            <a:off x="4300026" y="2057399"/>
            <a:ext cx="2425928" cy="336368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Tree>
    <p:extLst>
      <p:ext uri="{BB962C8B-B14F-4D97-AF65-F5344CB8AC3E}">
        <p14:creationId xmlns:p14="http://schemas.microsoft.com/office/powerpoint/2010/main" val="403171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8A4D5B6A-1F93-BE59-6F5E-DDF5410AE9AF}"/>
              </a:ext>
            </a:extLst>
          </p:cNvPr>
          <p:cNvSpPr>
            <a:spLocks noGrp="1"/>
          </p:cNvSpPr>
          <p:nvPr>
            <p:ph type="title"/>
          </p:nvPr>
        </p:nvSpPr>
        <p:spPr>
          <a:xfrm>
            <a:off x="936171" y="2628900"/>
            <a:ext cx="9829799" cy="1600200"/>
          </a:xfrm>
        </p:spPr>
        <p:txBody>
          <a:bodyPr>
            <a:noAutofit/>
          </a:bodyPr>
          <a:lstStyle/>
          <a:p>
            <a:pPr marL="1143000" indent="-1143000">
              <a:buFont typeface="Wingdings" panose="05000000000000000000" pitchFamily="2" charset="2"/>
              <a:buChar char="ü"/>
            </a:pPr>
            <a:r>
              <a:rPr lang="en-BE" sz="12500" b="1" dirty="0"/>
              <a:t>Conclusion</a:t>
            </a:r>
            <a:r>
              <a:rPr lang="en-BE" sz="12500" b="1" dirty="0">
                <a:latin typeface="Aptos Display" panose="020B0004020202020204" pitchFamily="34" charset="0"/>
              </a:rPr>
              <a:t> </a:t>
            </a:r>
            <a:endParaRPr lang="fr-MA" sz="12500" b="1" dirty="0">
              <a:latin typeface="Aptos Display" panose="020B0004020202020204" pitchFamily="34" charset="0"/>
            </a:endParaRPr>
          </a:p>
        </p:txBody>
      </p:sp>
    </p:spTree>
    <p:extLst>
      <p:ext uri="{BB962C8B-B14F-4D97-AF65-F5344CB8AC3E}">
        <p14:creationId xmlns:p14="http://schemas.microsoft.com/office/powerpoint/2010/main" val="383701654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709</Words>
  <Application>Microsoft Office PowerPoint</Application>
  <PresentationFormat>Grand écran</PresentationFormat>
  <Paragraphs>76</Paragraphs>
  <Slides>8</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8</vt:i4>
      </vt:variant>
    </vt:vector>
  </HeadingPairs>
  <TitlesOfParts>
    <vt:vector size="15" baseType="lpstr">
      <vt:lpstr>Aptos</vt:lpstr>
      <vt:lpstr>Aptos Display</vt:lpstr>
      <vt:lpstr>Arial</vt:lpstr>
      <vt:lpstr>Arial Black</vt:lpstr>
      <vt:lpstr>Courier New</vt:lpstr>
      <vt:lpstr>Wingdings</vt:lpstr>
      <vt:lpstr>Thème Office</vt:lpstr>
      <vt:lpstr>ALGORITHME DE COMPILATION</vt:lpstr>
      <vt:lpstr>Introduction </vt:lpstr>
      <vt:lpstr>Étapes principales de compilation  :</vt:lpstr>
      <vt:lpstr>Présentation PowerPoint</vt:lpstr>
      <vt:lpstr>Présentation PowerPoint</vt:lpstr>
      <vt:lpstr>LES ERREURS :</vt:lpstr>
      <vt:lpstr>Test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élève test2</dc:creator>
  <cp:lastModifiedBy>élève test2</cp:lastModifiedBy>
  <cp:revision>3</cp:revision>
  <dcterms:created xsi:type="dcterms:W3CDTF">2025-12-25T06:04:09Z</dcterms:created>
  <dcterms:modified xsi:type="dcterms:W3CDTF">2025-12-25T09:37:16Z</dcterms:modified>
</cp:coreProperties>
</file>