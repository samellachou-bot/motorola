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9D14B0-29FB-D63A-B409-66B509BAB98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A"/>
          </a:p>
        </p:txBody>
      </p:sp>
      <p:sp>
        <p:nvSpPr>
          <p:cNvPr id="3" name="Sous-titre 2">
            <a:extLst>
              <a:ext uri="{FF2B5EF4-FFF2-40B4-BE49-F238E27FC236}">
                <a16:creationId xmlns:a16="http://schemas.microsoft.com/office/drawing/2014/main" id="{3CD3BCC5-376A-AD99-AE8A-1609CCD893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MA"/>
          </a:p>
        </p:txBody>
      </p:sp>
      <p:sp>
        <p:nvSpPr>
          <p:cNvPr id="4" name="Espace réservé de la date 3">
            <a:extLst>
              <a:ext uri="{FF2B5EF4-FFF2-40B4-BE49-F238E27FC236}">
                <a16:creationId xmlns:a16="http://schemas.microsoft.com/office/drawing/2014/main" id="{7A083959-6D38-C0A8-FD65-8231019CC3E6}"/>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5" name="Espace réservé du pied de page 4">
            <a:extLst>
              <a:ext uri="{FF2B5EF4-FFF2-40B4-BE49-F238E27FC236}">
                <a16:creationId xmlns:a16="http://schemas.microsoft.com/office/drawing/2014/main" id="{865A2AE9-ECDF-A460-7DAA-D45469B2240C}"/>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D2CF4F9A-00FE-B85C-E26F-6BCA89A67E27}"/>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340692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C1827D-5871-8F25-6F24-EFE27863AD17}"/>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6421C7AE-9DFA-57CB-3B60-10F049B6320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272FF7DA-A765-6B54-19D1-2845F7F23564}"/>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5" name="Espace réservé du pied de page 4">
            <a:extLst>
              <a:ext uri="{FF2B5EF4-FFF2-40B4-BE49-F238E27FC236}">
                <a16:creationId xmlns:a16="http://schemas.microsoft.com/office/drawing/2014/main" id="{9D6D28AB-09C3-1568-E31A-86876D92CC41}"/>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5917607A-701C-9752-E812-011150A244C9}"/>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574765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D3FFA0-01DE-64B9-67F8-E1680471EF0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A"/>
          </a:p>
        </p:txBody>
      </p:sp>
      <p:sp>
        <p:nvSpPr>
          <p:cNvPr id="3" name="Espace réservé du texte 2">
            <a:extLst>
              <a:ext uri="{FF2B5EF4-FFF2-40B4-BE49-F238E27FC236}">
                <a16:creationId xmlns:a16="http://schemas.microsoft.com/office/drawing/2014/main" id="{F0A21571-45E6-9C5F-A732-637EAE05E3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E65F4E7-BA8A-5F19-CEB0-23C376725606}"/>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5" name="Espace réservé du pied de page 4">
            <a:extLst>
              <a:ext uri="{FF2B5EF4-FFF2-40B4-BE49-F238E27FC236}">
                <a16:creationId xmlns:a16="http://schemas.microsoft.com/office/drawing/2014/main" id="{EEF4FDEC-2EBD-F1A1-E66A-7BDBC29EEC55}"/>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4422BE2D-9C90-9874-C455-C1BA547E48B5}"/>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3803626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27DD4E-CC04-1BDE-14EC-AE77DCE37C5B}"/>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3D50A088-B781-29D3-94BD-908A78CF82E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contenu 3">
            <a:extLst>
              <a:ext uri="{FF2B5EF4-FFF2-40B4-BE49-F238E27FC236}">
                <a16:creationId xmlns:a16="http://schemas.microsoft.com/office/drawing/2014/main" id="{7A7F94E4-8F16-E0C4-B5DF-0B0656FDC4F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e la date 4">
            <a:extLst>
              <a:ext uri="{FF2B5EF4-FFF2-40B4-BE49-F238E27FC236}">
                <a16:creationId xmlns:a16="http://schemas.microsoft.com/office/drawing/2014/main" id="{040D30D7-A368-992A-065C-D6919C80DB50}"/>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6" name="Espace réservé du pied de page 5">
            <a:extLst>
              <a:ext uri="{FF2B5EF4-FFF2-40B4-BE49-F238E27FC236}">
                <a16:creationId xmlns:a16="http://schemas.microsoft.com/office/drawing/2014/main" id="{4A6CDCDC-D8D9-8A5D-BB9B-12EF0110DC8F}"/>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A1AEC0FB-E351-59E5-BF4A-C1D9E8A3FEF3}"/>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190265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04127F-6AF1-29E0-91E4-06139AA24635}"/>
              </a:ext>
            </a:extLst>
          </p:cNvPr>
          <p:cNvSpPr>
            <a:spLocks noGrp="1"/>
          </p:cNvSpPr>
          <p:nvPr>
            <p:ph type="title"/>
          </p:nvPr>
        </p:nvSpPr>
        <p:spPr>
          <a:xfrm>
            <a:off x="839788" y="365125"/>
            <a:ext cx="10515600" cy="1325563"/>
          </a:xfrm>
        </p:spPr>
        <p:txBody>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74674C92-9622-4AA0-C593-7EB6E9AF52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DD9755E-0A01-0B4F-E36F-DB8365B5D5B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u texte 4">
            <a:extLst>
              <a:ext uri="{FF2B5EF4-FFF2-40B4-BE49-F238E27FC236}">
                <a16:creationId xmlns:a16="http://schemas.microsoft.com/office/drawing/2014/main" id="{5CAF2143-A19F-730A-7122-BDC371E85B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1BE38C8-B944-1ACF-D811-6EF4EF49FA9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7" name="Espace réservé de la date 6">
            <a:extLst>
              <a:ext uri="{FF2B5EF4-FFF2-40B4-BE49-F238E27FC236}">
                <a16:creationId xmlns:a16="http://schemas.microsoft.com/office/drawing/2014/main" id="{CD43E60B-1D82-461F-D278-14ED91AB3341}"/>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8" name="Espace réservé du pied de page 7">
            <a:extLst>
              <a:ext uri="{FF2B5EF4-FFF2-40B4-BE49-F238E27FC236}">
                <a16:creationId xmlns:a16="http://schemas.microsoft.com/office/drawing/2014/main" id="{A759DF5C-2277-993A-98EF-7960C95C01F1}"/>
              </a:ext>
            </a:extLst>
          </p:cNvPr>
          <p:cNvSpPr>
            <a:spLocks noGrp="1"/>
          </p:cNvSpPr>
          <p:nvPr>
            <p:ph type="ftr" sz="quarter" idx="11"/>
          </p:nvPr>
        </p:nvSpPr>
        <p:spPr/>
        <p:txBody>
          <a:bodyPr/>
          <a:lstStyle/>
          <a:p>
            <a:endParaRPr lang="fr-MA"/>
          </a:p>
        </p:txBody>
      </p:sp>
      <p:sp>
        <p:nvSpPr>
          <p:cNvPr id="9" name="Espace réservé du numéro de diapositive 8">
            <a:extLst>
              <a:ext uri="{FF2B5EF4-FFF2-40B4-BE49-F238E27FC236}">
                <a16:creationId xmlns:a16="http://schemas.microsoft.com/office/drawing/2014/main" id="{D311E597-D729-BFF1-213F-213C88D90D47}"/>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1142142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DEB964-7E08-5DA5-A90F-5FF4A718F1DB}"/>
              </a:ext>
            </a:extLst>
          </p:cNvPr>
          <p:cNvSpPr>
            <a:spLocks noGrp="1"/>
          </p:cNvSpPr>
          <p:nvPr>
            <p:ph type="title"/>
          </p:nvPr>
        </p:nvSpPr>
        <p:spPr/>
        <p:txBody>
          <a:bodyPr/>
          <a:lstStyle/>
          <a:p>
            <a:r>
              <a:rPr lang="fr-FR"/>
              <a:t>Modifiez le style du titre</a:t>
            </a:r>
            <a:endParaRPr lang="fr-MA"/>
          </a:p>
        </p:txBody>
      </p:sp>
      <p:sp>
        <p:nvSpPr>
          <p:cNvPr id="3" name="Espace réservé de la date 2">
            <a:extLst>
              <a:ext uri="{FF2B5EF4-FFF2-40B4-BE49-F238E27FC236}">
                <a16:creationId xmlns:a16="http://schemas.microsoft.com/office/drawing/2014/main" id="{551A5508-0190-1C4E-6E61-BBAB33A74F07}"/>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4" name="Espace réservé du pied de page 3">
            <a:extLst>
              <a:ext uri="{FF2B5EF4-FFF2-40B4-BE49-F238E27FC236}">
                <a16:creationId xmlns:a16="http://schemas.microsoft.com/office/drawing/2014/main" id="{BFD1409E-C24C-6F8C-B585-E0B557082961}"/>
              </a:ext>
            </a:extLst>
          </p:cNvPr>
          <p:cNvSpPr>
            <a:spLocks noGrp="1"/>
          </p:cNvSpPr>
          <p:nvPr>
            <p:ph type="ftr" sz="quarter" idx="11"/>
          </p:nvPr>
        </p:nvSpPr>
        <p:spPr/>
        <p:txBody>
          <a:bodyPr/>
          <a:lstStyle/>
          <a:p>
            <a:endParaRPr lang="fr-MA"/>
          </a:p>
        </p:txBody>
      </p:sp>
      <p:sp>
        <p:nvSpPr>
          <p:cNvPr id="5" name="Espace réservé du numéro de diapositive 4">
            <a:extLst>
              <a:ext uri="{FF2B5EF4-FFF2-40B4-BE49-F238E27FC236}">
                <a16:creationId xmlns:a16="http://schemas.microsoft.com/office/drawing/2014/main" id="{A9233744-134F-4CF0-626A-EE7AE3B9A80F}"/>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1568746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8381C7-B367-B5C7-FC3D-889F9EE403E8}"/>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3" name="Espace réservé du pied de page 2">
            <a:extLst>
              <a:ext uri="{FF2B5EF4-FFF2-40B4-BE49-F238E27FC236}">
                <a16:creationId xmlns:a16="http://schemas.microsoft.com/office/drawing/2014/main" id="{166228A5-39BF-F1C0-4AFC-F20EFDFECBAD}"/>
              </a:ext>
            </a:extLst>
          </p:cNvPr>
          <p:cNvSpPr>
            <a:spLocks noGrp="1"/>
          </p:cNvSpPr>
          <p:nvPr>
            <p:ph type="ftr" sz="quarter" idx="11"/>
          </p:nvPr>
        </p:nvSpPr>
        <p:spPr/>
        <p:txBody>
          <a:bodyPr/>
          <a:lstStyle/>
          <a:p>
            <a:endParaRPr lang="fr-MA"/>
          </a:p>
        </p:txBody>
      </p:sp>
      <p:sp>
        <p:nvSpPr>
          <p:cNvPr id="4" name="Espace réservé du numéro de diapositive 3">
            <a:extLst>
              <a:ext uri="{FF2B5EF4-FFF2-40B4-BE49-F238E27FC236}">
                <a16:creationId xmlns:a16="http://schemas.microsoft.com/office/drawing/2014/main" id="{134C33D0-B407-A6A4-F279-C332A0261E87}"/>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1605519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EE6ADD-D0CC-0FF2-7E7F-86F8876A3CE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du contenu 2">
            <a:extLst>
              <a:ext uri="{FF2B5EF4-FFF2-40B4-BE49-F238E27FC236}">
                <a16:creationId xmlns:a16="http://schemas.microsoft.com/office/drawing/2014/main" id="{58FD23DF-779D-F863-BDC1-8B736BA9D7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texte 3">
            <a:extLst>
              <a:ext uri="{FF2B5EF4-FFF2-40B4-BE49-F238E27FC236}">
                <a16:creationId xmlns:a16="http://schemas.microsoft.com/office/drawing/2014/main" id="{60E000E5-8489-E7DB-5AA3-057C308F72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47339A4-3217-9E65-8C1D-2D893F8B31AC}"/>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6" name="Espace réservé du pied de page 5">
            <a:extLst>
              <a:ext uri="{FF2B5EF4-FFF2-40B4-BE49-F238E27FC236}">
                <a16:creationId xmlns:a16="http://schemas.microsoft.com/office/drawing/2014/main" id="{436D5402-502B-7467-C5ED-E1BC027139D6}"/>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8592FC5A-3C65-9ADE-7962-136E77EB2771}"/>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1465680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5C9C2A-527C-9BB5-EA32-44FD4829EAA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pour une image  2">
            <a:extLst>
              <a:ext uri="{FF2B5EF4-FFF2-40B4-BE49-F238E27FC236}">
                <a16:creationId xmlns:a16="http://schemas.microsoft.com/office/drawing/2014/main" id="{A57E95D5-E481-4F68-45A3-5BF3B8BA5C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MA"/>
          </a:p>
        </p:txBody>
      </p:sp>
      <p:sp>
        <p:nvSpPr>
          <p:cNvPr id="4" name="Espace réservé du texte 3">
            <a:extLst>
              <a:ext uri="{FF2B5EF4-FFF2-40B4-BE49-F238E27FC236}">
                <a16:creationId xmlns:a16="http://schemas.microsoft.com/office/drawing/2014/main" id="{355CA66F-A232-8CB8-C846-7224E81BDB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D749EA3-BD5D-A13E-E1C2-A6A756082045}"/>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6" name="Espace réservé du pied de page 5">
            <a:extLst>
              <a:ext uri="{FF2B5EF4-FFF2-40B4-BE49-F238E27FC236}">
                <a16:creationId xmlns:a16="http://schemas.microsoft.com/office/drawing/2014/main" id="{9D537C50-AAF4-2477-7A8C-DE09BC550E92}"/>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5E7CB337-2B5E-BEF5-62FB-5F5F1C89B63F}"/>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3423552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D76F91-7261-8F41-554D-A2B7DBEA1019}"/>
              </a:ext>
            </a:extLst>
          </p:cNvPr>
          <p:cNvSpPr>
            <a:spLocks noGrp="1"/>
          </p:cNvSpPr>
          <p:nvPr>
            <p:ph type="title"/>
          </p:nvPr>
        </p:nvSpPr>
        <p:spPr/>
        <p:txBody>
          <a:bodyPr/>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E710597E-397B-2F3D-7F1B-D14C796497B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608C2A4D-BCD5-B855-1147-C73CF2B7ABEC}"/>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5" name="Espace réservé du pied de page 4">
            <a:extLst>
              <a:ext uri="{FF2B5EF4-FFF2-40B4-BE49-F238E27FC236}">
                <a16:creationId xmlns:a16="http://schemas.microsoft.com/office/drawing/2014/main" id="{7D762995-7C1D-C146-4744-6D6C14697C8B}"/>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415A7DB7-A0FD-D0E1-5CF6-DF4DF17CD67F}"/>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1038418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5603B3E-7014-55FE-A4BD-A550077B9815}"/>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BD594ADC-AD25-F7A9-C762-4A6B061298F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A89E0158-9F91-6661-B0E4-0F48ADFC9567}"/>
              </a:ext>
            </a:extLst>
          </p:cNvPr>
          <p:cNvSpPr>
            <a:spLocks noGrp="1"/>
          </p:cNvSpPr>
          <p:nvPr>
            <p:ph type="dt" sz="half" idx="10"/>
          </p:nvPr>
        </p:nvSpPr>
        <p:spPr/>
        <p:txBody>
          <a:bodyPr/>
          <a:lstStyle/>
          <a:p>
            <a:fld id="{BCA68451-F52D-4EB5-9EEE-67044AFDCE9B}" type="datetimeFigureOut">
              <a:rPr lang="fr-MA" smtClean="0"/>
              <a:t>21/12/2025</a:t>
            </a:fld>
            <a:endParaRPr lang="fr-MA"/>
          </a:p>
        </p:txBody>
      </p:sp>
      <p:sp>
        <p:nvSpPr>
          <p:cNvPr id="5" name="Espace réservé du pied de page 4">
            <a:extLst>
              <a:ext uri="{FF2B5EF4-FFF2-40B4-BE49-F238E27FC236}">
                <a16:creationId xmlns:a16="http://schemas.microsoft.com/office/drawing/2014/main" id="{8CCE7D06-7679-5837-C0B3-12438F30840F}"/>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609EDC17-7F03-D0BF-FF76-160000CEBFFA}"/>
              </a:ext>
            </a:extLst>
          </p:cNvPr>
          <p:cNvSpPr>
            <a:spLocks noGrp="1"/>
          </p:cNvSpPr>
          <p:nvPr>
            <p:ph type="sldNum" sz="quarter" idx="12"/>
          </p:nvPr>
        </p:nvSpPr>
        <p:spPr/>
        <p:txBody>
          <a:bodyPr/>
          <a:lstStyle/>
          <a:p>
            <a:fld id="{57146499-1F84-424E-B2C9-1DD984CC9692}" type="slidenum">
              <a:rPr lang="fr-MA" smtClean="0"/>
              <a:t>‹N°›</a:t>
            </a:fld>
            <a:endParaRPr lang="fr-MA"/>
          </a:p>
        </p:txBody>
      </p:sp>
    </p:spTree>
    <p:extLst>
      <p:ext uri="{BB962C8B-B14F-4D97-AF65-F5344CB8AC3E}">
        <p14:creationId xmlns:p14="http://schemas.microsoft.com/office/powerpoint/2010/main" val="168647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9143EA-52E6-9982-236D-B3145B1D8E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7C3455F9-A3DD-077B-5575-E252046DC9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78E26405-7CC6-4F0F-A8C7-87620D14BA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A68451-F52D-4EB5-9EEE-67044AFDCE9B}" type="datetimeFigureOut">
              <a:rPr lang="fr-MA" smtClean="0"/>
              <a:t>21/12/2025</a:t>
            </a:fld>
            <a:endParaRPr lang="fr-MA"/>
          </a:p>
        </p:txBody>
      </p:sp>
      <p:sp>
        <p:nvSpPr>
          <p:cNvPr id="5" name="Espace réservé du pied de page 4">
            <a:extLst>
              <a:ext uri="{FF2B5EF4-FFF2-40B4-BE49-F238E27FC236}">
                <a16:creationId xmlns:a16="http://schemas.microsoft.com/office/drawing/2014/main" id="{2962DED9-2133-44CA-E479-DE92053866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MA"/>
          </a:p>
        </p:txBody>
      </p:sp>
      <p:sp>
        <p:nvSpPr>
          <p:cNvPr id="6" name="Espace réservé du numéro de diapositive 5">
            <a:extLst>
              <a:ext uri="{FF2B5EF4-FFF2-40B4-BE49-F238E27FC236}">
                <a16:creationId xmlns:a16="http://schemas.microsoft.com/office/drawing/2014/main" id="{26A42E3C-C8F7-A2D6-4847-46A9840908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146499-1F84-424E-B2C9-1DD984CC9692}" type="slidenum">
              <a:rPr lang="fr-MA" smtClean="0"/>
              <a:t>‹N°›</a:t>
            </a:fld>
            <a:endParaRPr lang="fr-MA"/>
          </a:p>
        </p:txBody>
      </p:sp>
    </p:spTree>
    <p:extLst>
      <p:ext uri="{BB962C8B-B14F-4D97-AF65-F5344CB8AC3E}">
        <p14:creationId xmlns:p14="http://schemas.microsoft.com/office/powerpoint/2010/main" val="3573709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D425ED-2E4F-2635-50BD-30839E987FEB}"/>
              </a:ext>
            </a:extLst>
          </p:cNvPr>
          <p:cNvSpPr>
            <a:spLocks noGrp="1"/>
          </p:cNvSpPr>
          <p:nvPr>
            <p:ph type="ctrTitle"/>
          </p:nvPr>
        </p:nvSpPr>
        <p:spPr>
          <a:xfrm>
            <a:off x="1801585" y="424543"/>
            <a:ext cx="8588829" cy="3940628"/>
          </a:xfrm>
        </p:spPr>
        <p:txBody>
          <a:bodyPr>
            <a:normAutofit/>
          </a:bodyPr>
          <a:lstStyle/>
          <a:p>
            <a:r>
              <a:rPr lang="fr-FR" sz="8000" b="1" dirty="0">
                <a:latin typeface="Britannic Bold" panose="020B0903060703020204" pitchFamily="34" charset="0"/>
              </a:rPr>
              <a:t>Simulation de microprocesseur Motorola </a:t>
            </a:r>
            <a:r>
              <a:rPr lang="en-BE" sz="8000" b="1" dirty="0">
                <a:latin typeface="Britannic Bold" panose="020B0903060703020204" pitchFamily="34" charset="0"/>
              </a:rPr>
              <a:t>6</a:t>
            </a:r>
            <a:r>
              <a:rPr lang="fr-FR" sz="8000" b="1" dirty="0">
                <a:latin typeface="Britannic Bold" panose="020B0903060703020204" pitchFamily="34" charset="0"/>
              </a:rPr>
              <a:t>809</a:t>
            </a:r>
            <a:endParaRPr lang="fr-MA" sz="8000" b="1" dirty="0">
              <a:latin typeface="Britannic Bold" panose="020B0903060703020204" pitchFamily="34" charset="0"/>
            </a:endParaRPr>
          </a:p>
        </p:txBody>
      </p:sp>
      <p:sp>
        <p:nvSpPr>
          <p:cNvPr id="3" name="Sous-titre 2">
            <a:extLst>
              <a:ext uri="{FF2B5EF4-FFF2-40B4-BE49-F238E27FC236}">
                <a16:creationId xmlns:a16="http://schemas.microsoft.com/office/drawing/2014/main" id="{DE21F7E2-961A-5651-3AFC-7F7AAC70D3EE}"/>
              </a:ext>
            </a:extLst>
          </p:cNvPr>
          <p:cNvSpPr>
            <a:spLocks noGrp="1"/>
          </p:cNvSpPr>
          <p:nvPr>
            <p:ph type="subTitle" idx="1"/>
          </p:nvPr>
        </p:nvSpPr>
        <p:spPr>
          <a:xfrm>
            <a:off x="1687286" y="4777695"/>
            <a:ext cx="9144000" cy="1655762"/>
          </a:xfrm>
        </p:spPr>
        <p:txBody>
          <a:bodyPr/>
          <a:lstStyle/>
          <a:p>
            <a:r>
              <a:rPr lang="en-BE" dirty="0" err="1"/>
              <a:t>Réealiser</a:t>
            </a:r>
            <a:r>
              <a:rPr lang="en-BE" dirty="0"/>
              <a:t> par :</a:t>
            </a:r>
          </a:p>
          <a:p>
            <a:r>
              <a:rPr lang="fr-MA" dirty="0"/>
              <a:t>E</a:t>
            </a:r>
            <a:r>
              <a:rPr lang="en-BE" dirty="0" err="1"/>
              <a:t>ncadrée</a:t>
            </a:r>
            <a:r>
              <a:rPr lang="en-BE" dirty="0"/>
              <a:t> par :</a:t>
            </a:r>
          </a:p>
          <a:p>
            <a:r>
              <a:rPr lang="en-BE" dirty="0"/>
              <a:t>Le </a:t>
            </a:r>
          </a:p>
          <a:p>
            <a:endParaRPr lang="en-BE" dirty="0"/>
          </a:p>
          <a:p>
            <a:endParaRPr lang="en-BE" dirty="0"/>
          </a:p>
          <a:p>
            <a:endParaRPr lang="fr-MA" dirty="0"/>
          </a:p>
        </p:txBody>
      </p:sp>
    </p:spTree>
    <p:extLst>
      <p:ext uri="{BB962C8B-B14F-4D97-AF65-F5344CB8AC3E}">
        <p14:creationId xmlns:p14="http://schemas.microsoft.com/office/powerpoint/2010/main" val="789904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43DC8E-DDD3-6FBA-0D9A-F56E5C074B68}"/>
              </a:ext>
            </a:extLst>
          </p:cNvPr>
          <p:cNvSpPr>
            <a:spLocks noGrp="1"/>
          </p:cNvSpPr>
          <p:nvPr>
            <p:ph type="title"/>
          </p:nvPr>
        </p:nvSpPr>
        <p:spPr>
          <a:xfrm>
            <a:off x="831850" y="489857"/>
            <a:ext cx="10515600" cy="839561"/>
          </a:xfrm>
        </p:spPr>
        <p:txBody>
          <a:bodyPr>
            <a:normAutofit fontScale="90000"/>
          </a:bodyPr>
          <a:lstStyle/>
          <a:p>
            <a:r>
              <a:rPr lang="en-BE" sz="6000" b="1" u="sng" dirty="0"/>
              <a:t>PLAN :</a:t>
            </a:r>
            <a:endParaRPr lang="fr-MA" sz="6000" b="1" u="sng" dirty="0"/>
          </a:p>
        </p:txBody>
      </p:sp>
      <p:sp>
        <p:nvSpPr>
          <p:cNvPr id="5" name="Rectangle 1">
            <a:extLst>
              <a:ext uri="{FF2B5EF4-FFF2-40B4-BE49-F238E27FC236}">
                <a16:creationId xmlns:a16="http://schemas.microsoft.com/office/drawing/2014/main" id="{C381C19D-6D5B-5C05-D03A-C1253549DA30}"/>
              </a:ext>
            </a:extLst>
          </p:cNvPr>
          <p:cNvSpPr>
            <a:spLocks noGrp="1" noChangeArrowheads="1"/>
          </p:cNvSpPr>
          <p:nvPr>
            <p:ph type="body" idx="1"/>
          </p:nvPr>
        </p:nvSpPr>
        <p:spPr bwMode="auto">
          <a:xfrm>
            <a:off x="831850" y="1329418"/>
            <a:ext cx="10515600" cy="150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Qu’est-ce qu’un microprocesseur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Pourquoi la simulation est utile (par exemple, pour tester des programmes sans avoir le matériel réel)</a:t>
            </a:r>
          </a:p>
        </p:txBody>
      </p:sp>
    </p:spTree>
    <p:extLst>
      <p:ext uri="{BB962C8B-B14F-4D97-AF65-F5344CB8AC3E}">
        <p14:creationId xmlns:p14="http://schemas.microsoft.com/office/powerpoint/2010/main" val="2211880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43D87C-4215-7398-AF7F-D7C17868398A}"/>
              </a:ext>
            </a:extLst>
          </p:cNvPr>
          <p:cNvSpPr>
            <a:spLocks noGrp="1"/>
          </p:cNvSpPr>
          <p:nvPr>
            <p:ph type="title"/>
          </p:nvPr>
        </p:nvSpPr>
        <p:spPr>
          <a:xfrm>
            <a:off x="1210808" y="-39233"/>
            <a:ext cx="4124098" cy="1600200"/>
          </a:xfrm>
        </p:spPr>
        <p:txBody>
          <a:bodyPr>
            <a:normAutofit/>
          </a:bodyPr>
          <a:lstStyle/>
          <a:p>
            <a:r>
              <a:rPr lang="en-BE" sz="4800" b="1" u="sng" dirty="0">
                <a:latin typeface="Arial" panose="020B0604020202020204" pitchFamily="34" charset="0"/>
                <a:cs typeface="Arial" panose="020B0604020202020204" pitchFamily="34" charset="0"/>
              </a:rPr>
              <a:t>Introduction</a:t>
            </a:r>
            <a:r>
              <a:rPr lang="en-BE" sz="4800" b="1" dirty="0">
                <a:latin typeface="Arial" panose="020B0604020202020204" pitchFamily="34" charset="0"/>
                <a:cs typeface="Arial" panose="020B0604020202020204" pitchFamily="34" charset="0"/>
              </a:rPr>
              <a:t> : </a:t>
            </a:r>
            <a:endParaRPr lang="fr-MA" sz="4800" b="1" dirty="0">
              <a:latin typeface="Arial" panose="020B0604020202020204" pitchFamily="34" charset="0"/>
              <a:cs typeface="Arial" panose="020B0604020202020204" pitchFamily="34" charset="0"/>
            </a:endParaRPr>
          </a:p>
        </p:txBody>
      </p:sp>
      <p:sp>
        <p:nvSpPr>
          <p:cNvPr id="4" name="Espace réservé du texte 3">
            <a:extLst>
              <a:ext uri="{FF2B5EF4-FFF2-40B4-BE49-F238E27FC236}">
                <a16:creationId xmlns:a16="http://schemas.microsoft.com/office/drawing/2014/main" id="{D84C4910-53D3-066D-47B5-257B0B9A4332}"/>
              </a:ext>
            </a:extLst>
          </p:cNvPr>
          <p:cNvSpPr>
            <a:spLocks noGrp="1"/>
          </p:cNvSpPr>
          <p:nvPr>
            <p:ph type="body" sz="half" idx="2"/>
          </p:nvPr>
        </p:nvSpPr>
        <p:spPr>
          <a:xfrm>
            <a:off x="1772784" y="2058988"/>
            <a:ext cx="9374188" cy="3811588"/>
          </a:xfrm>
        </p:spPr>
        <p:txBody>
          <a:bodyPr>
            <a:normAutofit/>
          </a:bodyPr>
          <a:lstStyle/>
          <a:p>
            <a:r>
              <a:rPr lang="fr-FR" sz="2800" b="1" dirty="0"/>
              <a:t>Un microprocesseur est un circuit électronique qui exécute des instructions et assure le traitement des données dans un système informatique. La simulation d’un microprocesseur permet de comprendre son fonctionnement et de tester des programmes sans avoir besoin du matériel réel, ce qui facilite l’apprentissage, réduit les coûts et évite les risques d’erreurs.</a:t>
            </a:r>
            <a:endParaRPr lang="fr-MA" sz="2800" b="1" dirty="0"/>
          </a:p>
        </p:txBody>
      </p:sp>
      <p:sp>
        <p:nvSpPr>
          <p:cNvPr id="6" name="Flèche : droite à entaille 5">
            <a:extLst>
              <a:ext uri="{FF2B5EF4-FFF2-40B4-BE49-F238E27FC236}">
                <a16:creationId xmlns:a16="http://schemas.microsoft.com/office/drawing/2014/main" id="{64400752-46C7-89BA-15FB-9E1FDFF0ADB8}"/>
              </a:ext>
            </a:extLst>
          </p:cNvPr>
          <p:cNvSpPr/>
          <p:nvPr/>
        </p:nvSpPr>
        <p:spPr>
          <a:xfrm>
            <a:off x="770730" y="2166257"/>
            <a:ext cx="880155" cy="283029"/>
          </a:xfrm>
          <a:prstGeom prst="notched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fr-MA"/>
          </a:p>
        </p:txBody>
      </p:sp>
    </p:spTree>
    <p:extLst>
      <p:ext uri="{BB962C8B-B14F-4D97-AF65-F5344CB8AC3E}">
        <p14:creationId xmlns:p14="http://schemas.microsoft.com/office/powerpoint/2010/main" val="518317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4FD344-F232-6A18-EDDD-DDB14726464E}"/>
              </a:ext>
            </a:extLst>
          </p:cNvPr>
          <p:cNvSpPr>
            <a:spLocks noGrp="1"/>
          </p:cNvSpPr>
          <p:nvPr>
            <p:ph type="title"/>
          </p:nvPr>
        </p:nvSpPr>
        <p:spPr>
          <a:xfrm>
            <a:off x="636908" y="-411267"/>
            <a:ext cx="4784044" cy="1600200"/>
          </a:xfrm>
        </p:spPr>
        <p:txBody>
          <a:bodyPr>
            <a:normAutofit/>
          </a:bodyPr>
          <a:lstStyle/>
          <a:p>
            <a:r>
              <a:rPr lang="en-BE" sz="4000" b="1" u="sng" dirty="0">
                <a:latin typeface="Arial" panose="020B0604020202020204" pitchFamily="34" charset="0"/>
                <a:cs typeface="Arial" panose="020B0604020202020204" pitchFamily="34" charset="0"/>
              </a:rPr>
              <a:t>MOTOROLA 6809</a:t>
            </a:r>
            <a:r>
              <a:rPr lang="en-BE" sz="4000" b="1" dirty="0">
                <a:latin typeface="Arial" panose="020B0604020202020204" pitchFamily="34" charset="0"/>
                <a:cs typeface="Arial" panose="020B0604020202020204" pitchFamily="34" charset="0"/>
              </a:rPr>
              <a:t>:</a:t>
            </a:r>
            <a:endParaRPr lang="fr-MA" sz="4000" b="1" dirty="0">
              <a:latin typeface="Arial" panose="020B0604020202020204" pitchFamily="34" charset="0"/>
              <a:cs typeface="Arial" panose="020B0604020202020204" pitchFamily="34" charset="0"/>
            </a:endParaRPr>
          </a:p>
        </p:txBody>
      </p:sp>
      <p:sp>
        <p:nvSpPr>
          <p:cNvPr id="4" name="Espace réservé du texte 3">
            <a:extLst>
              <a:ext uri="{FF2B5EF4-FFF2-40B4-BE49-F238E27FC236}">
                <a16:creationId xmlns:a16="http://schemas.microsoft.com/office/drawing/2014/main" id="{917BEE0E-17D9-51FE-8561-E70FD427808E}"/>
              </a:ext>
            </a:extLst>
          </p:cNvPr>
          <p:cNvSpPr>
            <a:spLocks noGrp="1"/>
          </p:cNvSpPr>
          <p:nvPr>
            <p:ph type="body" sz="half" idx="2"/>
          </p:nvPr>
        </p:nvSpPr>
        <p:spPr>
          <a:xfrm>
            <a:off x="337458" y="1415143"/>
            <a:ext cx="5661898" cy="4453845"/>
          </a:xfrm>
        </p:spPr>
        <p:txBody>
          <a:bodyPr>
            <a:normAutofit/>
          </a:bodyPr>
          <a:lstStyle/>
          <a:p>
            <a:pPr marL="285750" indent="-285750">
              <a:buFont typeface="Wingdings" panose="05000000000000000000" pitchFamily="2" charset="2"/>
              <a:buChar char="ü"/>
            </a:pPr>
            <a:endParaRPr lang="en-BE" sz="1800" b="1" dirty="0"/>
          </a:p>
          <a:p>
            <a:pPr marL="285750" indent="-285750">
              <a:buFont typeface="Wingdings" panose="05000000000000000000" pitchFamily="2" charset="2"/>
              <a:buChar char="ü"/>
            </a:pPr>
            <a:r>
              <a:rPr lang="fr-FR" sz="1800" b="1" dirty="0"/>
              <a:t>Motorola est une entreprise spécialisée dans la conception de composants électroniques et de microprocesseurs. Le microprocesseur Motorola </a:t>
            </a:r>
            <a:r>
              <a:rPr lang="en-BE" sz="1800" b="1" dirty="0"/>
              <a:t>6</a:t>
            </a:r>
            <a:r>
              <a:rPr lang="fr-FR" sz="1800" b="1" dirty="0"/>
              <a:t>809 est basé sur une architecture 8 bits. Il dispose de registres internes utilisés pour stocker temporairement les données et les résultats des calculs, ainsi qu’une mémoire pour stocker les programmes et les données. Son jeu d’instructions comprend des opérations de base telles que le chargement, le stockage, les opérations arithmétiques et logiques, ainsi que les instructions de saut. La vitesse de fonctionnement dépend de l’environnement de simulation, ce qui permet d’observer l’exécution des instructions étape par étape.</a:t>
            </a:r>
            <a:endParaRPr lang="fr-MA" sz="1800" b="1" dirty="0"/>
          </a:p>
        </p:txBody>
      </p:sp>
      <p:pic>
        <p:nvPicPr>
          <p:cNvPr id="2052" name="Picture 4">
            <a:extLst>
              <a:ext uri="{FF2B5EF4-FFF2-40B4-BE49-F238E27FC236}">
                <a16:creationId xmlns:a16="http://schemas.microsoft.com/office/drawing/2014/main" id="{FEAF235C-6DB5-3FB7-8C02-3F0C73923C21}"/>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6450" r="6450"/>
          <a:stretch>
            <a:fillRect/>
          </a:stretch>
        </p:blipFill>
        <p:spPr bwMode="auto">
          <a:xfrm>
            <a:off x="6315309" y="619557"/>
            <a:ext cx="5356032" cy="4213699"/>
          </a:xfrm>
          <a:prstGeom prst="rect">
            <a:avLst/>
          </a:prstGeom>
          <a:noFill/>
          <a:extLst>
            <a:ext uri="{909E8E84-426E-40DD-AFC4-6F175D3DCCD1}">
              <a14:hiddenFill xmlns:a14="http://schemas.microsoft.com/office/drawing/2010/main">
                <a:solidFill>
                  <a:srgbClr val="FFFFFF"/>
                </a:solidFill>
              </a14:hiddenFill>
            </a:ext>
          </a:extLst>
        </p:spPr>
      </p:pic>
      <p:sp>
        <p:nvSpPr>
          <p:cNvPr id="6" name="Demi-cadre 5">
            <a:extLst>
              <a:ext uri="{FF2B5EF4-FFF2-40B4-BE49-F238E27FC236}">
                <a16:creationId xmlns:a16="http://schemas.microsoft.com/office/drawing/2014/main" id="{ACD7B478-15C2-3671-0FB3-A44A78C5E2EC}"/>
              </a:ext>
            </a:extLst>
          </p:cNvPr>
          <p:cNvSpPr/>
          <p:nvPr/>
        </p:nvSpPr>
        <p:spPr>
          <a:xfrm>
            <a:off x="283122" y="1513115"/>
            <a:ext cx="707572" cy="718457"/>
          </a:xfrm>
          <a:prstGeom prst="halfFrame">
            <a:avLst>
              <a:gd name="adj1" fmla="val 10256"/>
              <a:gd name="adj2" fmla="val 717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solidFill>
                <a:schemeClr val="tx1"/>
              </a:solidFill>
            </a:endParaRPr>
          </a:p>
        </p:txBody>
      </p:sp>
      <p:sp>
        <p:nvSpPr>
          <p:cNvPr id="7" name="Demi-cadre 6">
            <a:extLst>
              <a:ext uri="{FF2B5EF4-FFF2-40B4-BE49-F238E27FC236}">
                <a16:creationId xmlns:a16="http://schemas.microsoft.com/office/drawing/2014/main" id="{2019197A-8F25-EC50-BD50-8884BC020CA5}"/>
              </a:ext>
            </a:extLst>
          </p:cNvPr>
          <p:cNvSpPr/>
          <p:nvPr/>
        </p:nvSpPr>
        <p:spPr>
          <a:xfrm rot="10800000">
            <a:off x="5291784" y="5007428"/>
            <a:ext cx="707572" cy="718457"/>
          </a:xfrm>
          <a:prstGeom prst="halfFrame">
            <a:avLst>
              <a:gd name="adj1" fmla="val 10256"/>
              <a:gd name="adj2" fmla="val 717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solidFill>
                <a:schemeClr val="tx1"/>
              </a:solidFill>
            </a:endParaRPr>
          </a:p>
        </p:txBody>
      </p:sp>
    </p:spTree>
    <p:extLst>
      <p:ext uri="{BB962C8B-B14F-4D97-AF65-F5344CB8AC3E}">
        <p14:creationId xmlns:p14="http://schemas.microsoft.com/office/powerpoint/2010/main" val="118993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AutoShape 4">
            <a:extLst>
              <a:ext uri="{FF2B5EF4-FFF2-40B4-BE49-F238E27FC236}">
                <a16:creationId xmlns:a16="http://schemas.microsoft.com/office/drawing/2014/main" id="{54517E42-7BA1-EA07-5189-72FC0BB05E2A}"/>
              </a:ext>
            </a:extLst>
          </p:cNvPr>
          <p:cNvSpPr>
            <a:spLocks noChangeAspect="1" noChangeArrowheads="1"/>
          </p:cNvSpPr>
          <p:nvPr/>
        </p:nvSpPr>
        <p:spPr bwMode="auto">
          <a:xfrm>
            <a:off x="5943600" y="3276600"/>
            <a:ext cx="6248400" cy="31780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MA"/>
          </a:p>
        </p:txBody>
      </p:sp>
      <p:sp>
        <p:nvSpPr>
          <p:cNvPr id="4" name="AutoShape 6">
            <a:extLst>
              <a:ext uri="{FF2B5EF4-FFF2-40B4-BE49-F238E27FC236}">
                <a16:creationId xmlns:a16="http://schemas.microsoft.com/office/drawing/2014/main" id="{1F8D25CC-7F85-AF3F-1F63-C914C3F7B0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MA"/>
          </a:p>
        </p:txBody>
      </p:sp>
      <p:pic>
        <p:nvPicPr>
          <p:cNvPr id="6" name="Image 5">
            <a:extLst>
              <a:ext uri="{FF2B5EF4-FFF2-40B4-BE49-F238E27FC236}">
                <a16:creationId xmlns:a16="http://schemas.microsoft.com/office/drawing/2014/main" id="{AA440537-9F68-159E-B7E9-4A60CAD6EA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279086" cy="6858001"/>
          </a:xfrm>
          <a:prstGeom prst="rect">
            <a:avLst/>
          </a:prstGeom>
        </p:spPr>
      </p:pic>
    </p:spTree>
    <p:extLst>
      <p:ext uri="{BB962C8B-B14F-4D97-AF65-F5344CB8AC3E}">
        <p14:creationId xmlns:p14="http://schemas.microsoft.com/office/powerpoint/2010/main" val="1128105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DC2C23-63A6-F0E2-8BCA-16FE58321630}"/>
              </a:ext>
            </a:extLst>
          </p:cNvPr>
          <p:cNvSpPr>
            <a:spLocks noGrp="1"/>
          </p:cNvSpPr>
          <p:nvPr>
            <p:ph type="title"/>
          </p:nvPr>
        </p:nvSpPr>
        <p:spPr/>
        <p:txBody>
          <a:bodyPr/>
          <a:lstStyle/>
          <a:p>
            <a:endParaRPr lang="fr-MA"/>
          </a:p>
        </p:txBody>
      </p:sp>
      <p:sp>
        <p:nvSpPr>
          <p:cNvPr id="3" name="Espace réservé pour une image  2">
            <a:extLst>
              <a:ext uri="{FF2B5EF4-FFF2-40B4-BE49-F238E27FC236}">
                <a16:creationId xmlns:a16="http://schemas.microsoft.com/office/drawing/2014/main" id="{7020EEFD-3551-3B05-5301-C9C01FDC48D1}"/>
              </a:ext>
            </a:extLst>
          </p:cNvPr>
          <p:cNvSpPr>
            <a:spLocks noGrp="1"/>
          </p:cNvSpPr>
          <p:nvPr>
            <p:ph type="pic" idx="1"/>
          </p:nvPr>
        </p:nvSpPr>
        <p:spPr/>
        <p:txBody>
          <a:bodyPr/>
          <a:lstStyle/>
          <a:p>
            <a:endParaRPr lang="fr-MA"/>
          </a:p>
        </p:txBody>
      </p:sp>
      <p:sp>
        <p:nvSpPr>
          <p:cNvPr id="4" name="Espace réservé du texte 3">
            <a:extLst>
              <a:ext uri="{FF2B5EF4-FFF2-40B4-BE49-F238E27FC236}">
                <a16:creationId xmlns:a16="http://schemas.microsoft.com/office/drawing/2014/main" id="{BBC88CE8-2236-2F20-C43F-9962D05A10A3}"/>
              </a:ext>
            </a:extLst>
          </p:cNvPr>
          <p:cNvSpPr>
            <a:spLocks noGrp="1"/>
          </p:cNvSpPr>
          <p:nvPr>
            <p:ph type="body" sz="half" idx="2"/>
          </p:nvPr>
        </p:nvSpPr>
        <p:spPr/>
        <p:txBody>
          <a:bodyPr/>
          <a:lstStyle/>
          <a:p>
            <a:endParaRPr lang="fr-MA"/>
          </a:p>
        </p:txBody>
      </p:sp>
    </p:spTree>
    <p:extLst>
      <p:ext uri="{BB962C8B-B14F-4D97-AF65-F5344CB8AC3E}">
        <p14:creationId xmlns:p14="http://schemas.microsoft.com/office/powerpoint/2010/main" val="2340676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BFDFD86E-1D2A-482F-4C66-309A7AD4C53E}"/>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5300465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206</Words>
  <Application>Microsoft Office PowerPoint</Application>
  <PresentationFormat>Grand écran</PresentationFormat>
  <Paragraphs>13</Paragraphs>
  <Slides>7</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vt:i4>
      </vt:variant>
    </vt:vector>
  </HeadingPairs>
  <TitlesOfParts>
    <vt:vector size="13" baseType="lpstr">
      <vt:lpstr>Aptos</vt:lpstr>
      <vt:lpstr>Aptos Display</vt:lpstr>
      <vt:lpstr>Arial</vt:lpstr>
      <vt:lpstr>Britannic Bold</vt:lpstr>
      <vt:lpstr>Wingdings</vt:lpstr>
      <vt:lpstr>Thème Office</vt:lpstr>
      <vt:lpstr>Simulation de microprocesseur Motorola 6809</vt:lpstr>
      <vt:lpstr>PLAN :</vt:lpstr>
      <vt:lpstr>Introduction : </vt:lpstr>
      <vt:lpstr>MOTOROLA 6809:</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élève test2</dc:creator>
  <cp:lastModifiedBy>élève test2</cp:lastModifiedBy>
  <cp:revision>1</cp:revision>
  <dcterms:created xsi:type="dcterms:W3CDTF">2025-12-21T21:25:57Z</dcterms:created>
  <dcterms:modified xsi:type="dcterms:W3CDTF">2025-12-21T22:31:09Z</dcterms:modified>
</cp:coreProperties>
</file>